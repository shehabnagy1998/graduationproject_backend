
<file path=[Content_Types].xml><?xml version="1.0" encoding="utf-8"?>
<Types xmlns="http://schemas.openxmlformats.org/package/2006/content-types"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</p:sldMasterIdLst>
  <p:notesMasterIdLst>
    <p:notesMasterId r:id="rId29"/>
  </p:notesMasterIdLst>
  <p:sldIdLst>
    <p:sldId id="352" r:id="rId3"/>
    <p:sldId id="353" r:id="rId4"/>
    <p:sldId id="370" r:id="rId5"/>
    <p:sldId id="332" r:id="rId6"/>
    <p:sldId id="337" r:id="rId7"/>
    <p:sldId id="283" r:id="rId8"/>
    <p:sldId id="334" r:id="rId9"/>
    <p:sldId id="346" r:id="rId10"/>
    <p:sldId id="348" r:id="rId11"/>
    <p:sldId id="347" r:id="rId12"/>
    <p:sldId id="354" r:id="rId13"/>
    <p:sldId id="355" r:id="rId14"/>
    <p:sldId id="356" r:id="rId15"/>
    <p:sldId id="357" r:id="rId16"/>
    <p:sldId id="358" r:id="rId17"/>
    <p:sldId id="359" r:id="rId18"/>
    <p:sldId id="360" r:id="rId19"/>
    <p:sldId id="361" r:id="rId20"/>
    <p:sldId id="362" r:id="rId21"/>
    <p:sldId id="363" r:id="rId22"/>
    <p:sldId id="364" r:id="rId23"/>
    <p:sldId id="365" r:id="rId24"/>
    <p:sldId id="366" r:id="rId25"/>
    <p:sldId id="367" r:id="rId26"/>
    <p:sldId id="368" r:id="rId27"/>
    <p:sldId id="369" r:id="rId2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rgbClr val="FFFFFF"/>
        </a:solidFill>
        <a:latin typeface="Arial" pitchFamily="34" charset="0"/>
        <a:ea typeface="ヒラギノ角ゴ ProN W3" charset="0"/>
        <a:cs typeface="ヒラギノ角ゴ ProN W3" charset="0"/>
        <a:sym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rgbClr val="FFFFFF"/>
        </a:solidFill>
        <a:latin typeface="Arial" pitchFamily="34" charset="0"/>
        <a:ea typeface="ヒラギノ角ゴ ProN W3" charset="0"/>
        <a:cs typeface="ヒラギノ角ゴ ProN W3" charset="0"/>
        <a:sym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rgbClr val="FFFFFF"/>
        </a:solidFill>
        <a:latin typeface="Arial" pitchFamily="34" charset="0"/>
        <a:ea typeface="ヒラギノ角ゴ ProN W3" charset="0"/>
        <a:cs typeface="ヒラギノ角ゴ ProN W3" charset="0"/>
        <a:sym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rgbClr val="FFFFFF"/>
        </a:solidFill>
        <a:latin typeface="Arial" pitchFamily="34" charset="0"/>
        <a:ea typeface="ヒラギノ角ゴ ProN W3" charset="0"/>
        <a:cs typeface="ヒラギノ角ゴ ProN W3" charset="0"/>
        <a:sym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rgbClr val="FFFFFF"/>
        </a:solidFill>
        <a:latin typeface="Arial" pitchFamily="34" charset="0"/>
        <a:ea typeface="ヒラギノ角ゴ ProN W3" charset="0"/>
        <a:cs typeface="ヒラギノ角ゴ ProN W3" charset="0"/>
        <a:sym typeface="Arial" pitchFamily="34" charset="0"/>
      </a:defRPr>
    </a:lvl5pPr>
    <a:lvl6pPr marL="2286000" algn="r" defTabSz="914400" rtl="1" eaLnBrk="1" latinLnBrk="0" hangingPunct="1">
      <a:defRPr kern="1200">
        <a:solidFill>
          <a:srgbClr val="FFFFFF"/>
        </a:solidFill>
        <a:latin typeface="Arial" pitchFamily="34" charset="0"/>
        <a:ea typeface="ヒラギノ角ゴ ProN W3" charset="0"/>
        <a:cs typeface="ヒラギノ角ゴ ProN W3" charset="0"/>
        <a:sym typeface="Arial" pitchFamily="34" charset="0"/>
      </a:defRPr>
    </a:lvl6pPr>
    <a:lvl7pPr marL="2743200" algn="r" defTabSz="914400" rtl="1" eaLnBrk="1" latinLnBrk="0" hangingPunct="1">
      <a:defRPr kern="1200">
        <a:solidFill>
          <a:srgbClr val="FFFFFF"/>
        </a:solidFill>
        <a:latin typeface="Arial" pitchFamily="34" charset="0"/>
        <a:ea typeface="ヒラギノ角ゴ ProN W3" charset="0"/>
        <a:cs typeface="ヒラギノ角ゴ ProN W3" charset="0"/>
        <a:sym typeface="Arial" pitchFamily="34" charset="0"/>
      </a:defRPr>
    </a:lvl7pPr>
    <a:lvl8pPr marL="3200400" algn="r" defTabSz="914400" rtl="1" eaLnBrk="1" latinLnBrk="0" hangingPunct="1">
      <a:defRPr kern="1200">
        <a:solidFill>
          <a:srgbClr val="FFFFFF"/>
        </a:solidFill>
        <a:latin typeface="Arial" pitchFamily="34" charset="0"/>
        <a:ea typeface="ヒラギノ角ゴ ProN W3" charset="0"/>
        <a:cs typeface="ヒラギノ角ゴ ProN W3" charset="0"/>
        <a:sym typeface="Arial" pitchFamily="34" charset="0"/>
      </a:defRPr>
    </a:lvl8pPr>
    <a:lvl9pPr marL="3657600" algn="r" defTabSz="914400" rtl="1" eaLnBrk="1" latinLnBrk="0" hangingPunct="1">
      <a:defRPr kern="1200">
        <a:solidFill>
          <a:srgbClr val="FFFFFF"/>
        </a:solidFill>
        <a:latin typeface="Arial" pitchFamily="34" charset="0"/>
        <a:ea typeface="ヒラギノ角ゴ ProN W3" charset="0"/>
        <a:cs typeface="ヒラギノ角ゴ ProN W3" charset="0"/>
        <a:sym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4" autoAdjust="0"/>
    <p:restoredTop sz="94624" autoAdjust="0"/>
  </p:normalViewPr>
  <p:slideViewPr>
    <p:cSldViewPr>
      <p:cViewPr varScale="1">
        <p:scale>
          <a:sx n="70" d="100"/>
          <a:sy n="70" d="100"/>
        </p:scale>
        <p:origin x="1386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F5682C92-0BBE-4CD3-994D-0CE250D0440E}" type="datetimeFigureOut">
              <a:rPr lang="ar-EG" smtClean="0"/>
              <a:pPr/>
              <a:t>15/08/1441</a:t>
            </a:fld>
            <a:endParaRPr lang="ar-E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E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8CA6EEE7-2089-4A91-9F05-10BC757F6993}" type="slidenum">
              <a:rPr lang="ar-EG" smtClean="0"/>
              <a:pPr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151725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ar-EG" smtClean="0"/>
          </a:p>
        </p:txBody>
      </p:sp>
    </p:spTree>
    <p:extLst>
      <p:ext uri="{BB962C8B-B14F-4D97-AF65-F5344CB8AC3E}">
        <p14:creationId xmlns:p14="http://schemas.microsoft.com/office/powerpoint/2010/main" val="494305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defTabSz="912813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defTabSz="912813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defTabSz="912813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defTabSz="912813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CBD2D5A-D217-40B7-8545-25AFCFA63E7C}" type="slidenum">
              <a:rPr lang="en-US" altLang="ar-EG"/>
              <a:pPr>
                <a:spcBef>
                  <a:spcPct val="0"/>
                </a:spcBef>
              </a:pPr>
              <a:t>15</a:t>
            </a:fld>
            <a:endParaRPr lang="en-US" altLang="ar-EG"/>
          </a:p>
        </p:txBody>
      </p:sp>
      <p:sp>
        <p:nvSpPr>
          <p:cNvPr id="194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EG" altLang="ar-EG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462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ar-EG" smtClean="0"/>
          </a:p>
        </p:txBody>
      </p:sp>
    </p:spTree>
    <p:extLst>
      <p:ext uri="{BB962C8B-B14F-4D97-AF65-F5344CB8AC3E}">
        <p14:creationId xmlns:p14="http://schemas.microsoft.com/office/powerpoint/2010/main" val="4053496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7C734C7-9704-4174-85F6-2998AF4153B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40321FE-7E79-4DDE-9521-A91405A8002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C277971-5C1A-49E0-9DF0-DC45DA4E5A7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F7AD907-7947-490F-8D26-EE1890011FF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8B15E35-10CE-4214-ADAA-74C983151C7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1399878-7E82-4123-9999-E57A7881657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3DDCADB-1769-47E2-BC80-1A6F056E436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53044C8-90B4-4617-BD9D-E57D94975B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E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4215C44-7D39-4D89-BA14-F9BE6389632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A5C2F06-A0BA-4690-AC0D-FD65AC464C6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43000"/>
            <a:ext cx="2057400" cy="49831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019800" cy="49831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536DF7C-1A21-4E9C-B0AA-D348DDACA56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9FCB35D-74FD-419B-9A5A-E46E7EF17E4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2053210-A8BB-47CB-9373-D240134128F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155A458-BC31-4B67-9E8D-F48888BF58B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320800"/>
            <a:ext cx="4114800" cy="4673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320800"/>
            <a:ext cx="4114800" cy="4673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F294842-8137-4A46-8702-2386EC3A270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41E1AD2-567F-480E-AA8B-BFF796D462B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4EFD270-69AD-40E5-A906-214EB107CA0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377C373-3533-4B38-9884-65995BFE021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104C794-666A-4D21-962B-5740BD7DBFB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E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8A1AA83-FA47-4DFC-A8AD-389D40534FB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DEAC657-EEA3-4A31-9012-D851FBE5E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00825" y="381000"/>
            <a:ext cx="2124075" cy="5613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381000"/>
            <a:ext cx="6219825" cy="5613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4615268-F54D-4D9E-929D-2DA0481BB2C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2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143000"/>
            <a:ext cx="7391400" cy="2743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50800" tIns="50800" rIns="9144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Arial" pitchFamily="34" charset="0"/>
              </a:rPr>
              <a:t>Click to edit Master title style</a:t>
            </a:r>
          </a:p>
        </p:txBody>
      </p:sp>
      <p:sp>
        <p:nvSpPr>
          <p:cNvPr id="1026" name="Text Box 2"/>
          <p:cNvSpPr txBox="1">
            <a:spLocks noGrp="1" noChangeArrowheads="1"/>
          </p:cNvSpPr>
          <p:nvPr>
            <p:ph type="sldNum" sz="quarter" idx="4"/>
          </p:nvPr>
        </p:nvSpPr>
        <p:spPr bwMode="auto">
          <a:xfrm>
            <a:off x="7477125" y="6248400"/>
            <a:ext cx="284163" cy="279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chemeClr val="tx1"/>
                </a:solidFill>
                <a:cs typeface="Arial" pitchFamily="34" charset="0"/>
              </a:defRPr>
            </a:lvl1pPr>
          </a:lstStyle>
          <a:p>
            <a:fld id="{B8ABB5C5-458A-4132-8F5D-4180D7AB6790}" type="slidenum">
              <a:rPr lang="en-US"/>
              <a:pPr/>
              <a:t>‹#›</a:t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hf hdr="0" ftr="0" dt="0"/>
  <p:txStyles>
    <p:titleStyle>
      <a:lvl1pPr marL="39688" algn="ctr" rtl="0" fontAlgn="base">
        <a:spcBef>
          <a:spcPct val="0"/>
        </a:spcBef>
        <a:spcAft>
          <a:spcPct val="0"/>
        </a:spcAft>
        <a:defRPr sz="4500">
          <a:solidFill>
            <a:schemeClr val="tx1"/>
          </a:solidFill>
          <a:latin typeface="+mj-lt"/>
          <a:ea typeface="+mj-ea"/>
          <a:cs typeface="+mj-cs"/>
          <a:sym typeface="Arial" pitchFamily="34" charset="0"/>
        </a:defRPr>
      </a:lvl1pPr>
      <a:lvl2pPr marL="39688" algn="ctr" rtl="0" fontAlgn="base">
        <a:spcBef>
          <a:spcPct val="0"/>
        </a:spcBef>
        <a:spcAft>
          <a:spcPct val="0"/>
        </a:spcAft>
        <a:defRPr sz="4500">
          <a:solidFill>
            <a:schemeClr val="tx1"/>
          </a:solidFill>
          <a:latin typeface="Arial" pitchFamily="34" charset="0"/>
          <a:ea typeface="ヒラギノ角ゴ ProN W3" charset="0"/>
          <a:cs typeface="ヒラギノ角ゴ ProN W3" charset="0"/>
          <a:sym typeface="Arial" pitchFamily="34" charset="0"/>
        </a:defRPr>
      </a:lvl2pPr>
      <a:lvl3pPr marL="39688" algn="ctr" rtl="0" fontAlgn="base">
        <a:spcBef>
          <a:spcPct val="0"/>
        </a:spcBef>
        <a:spcAft>
          <a:spcPct val="0"/>
        </a:spcAft>
        <a:defRPr sz="4500">
          <a:solidFill>
            <a:schemeClr val="tx1"/>
          </a:solidFill>
          <a:latin typeface="Arial" pitchFamily="34" charset="0"/>
          <a:ea typeface="ヒラギノ角ゴ ProN W3" charset="0"/>
          <a:cs typeface="ヒラギノ角ゴ ProN W3" charset="0"/>
          <a:sym typeface="Arial" pitchFamily="34" charset="0"/>
        </a:defRPr>
      </a:lvl3pPr>
      <a:lvl4pPr marL="39688" algn="ctr" rtl="0" fontAlgn="base">
        <a:spcBef>
          <a:spcPct val="0"/>
        </a:spcBef>
        <a:spcAft>
          <a:spcPct val="0"/>
        </a:spcAft>
        <a:defRPr sz="4500">
          <a:solidFill>
            <a:schemeClr val="tx1"/>
          </a:solidFill>
          <a:latin typeface="Arial" pitchFamily="34" charset="0"/>
          <a:ea typeface="ヒラギノ角ゴ ProN W3" charset="0"/>
          <a:cs typeface="ヒラギノ角ゴ ProN W3" charset="0"/>
          <a:sym typeface="Arial" pitchFamily="34" charset="0"/>
        </a:defRPr>
      </a:lvl4pPr>
      <a:lvl5pPr marL="39688" algn="ctr" rtl="0" fontAlgn="base">
        <a:spcBef>
          <a:spcPct val="0"/>
        </a:spcBef>
        <a:spcAft>
          <a:spcPct val="0"/>
        </a:spcAft>
        <a:defRPr sz="4500">
          <a:solidFill>
            <a:schemeClr val="tx1"/>
          </a:solidFill>
          <a:latin typeface="Arial" pitchFamily="34" charset="0"/>
          <a:ea typeface="ヒラギノ角ゴ ProN W3" charset="0"/>
          <a:cs typeface="ヒラギノ角ゴ ProN W3" charset="0"/>
          <a:sym typeface="Arial" pitchFamily="34" charset="0"/>
        </a:defRPr>
      </a:lvl5pPr>
      <a:lvl6pPr marL="496888" algn="ctr" rtl="0" fontAlgn="base">
        <a:spcBef>
          <a:spcPct val="0"/>
        </a:spcBef>
        <a:spcAft>
          <a:spcPct val="0"/>
        </a:spcAft>
        <a:defRPr sz="4500">
          <a:solidFill>
            <a:schemeClr val="tx1"/>
          </a:solidFill>
          <a:latin typeface="Arial" pitchFamily="34" charset="0"/>
          <a:ea typeface="ヒラギノ角ゴ ProN W3" charset="0"/>
          <a:cs typeface="ヒラギノ角ゴ ProN W3" charset="0"/>
          <a:sym typeface="Arial" pitchFamily="34" charset="0"/>
        </a:defRPr>
      </a:lvl6pPr>
      <a:lvl7pPr marL="954088" algn="ctr" rtl="0" fontAlgn="base">
        <a:spcBef>
          <a:spcPct val="0"/>
        </a:spcBef>
        <a:spcAft>
          <a:spcPct val="0"/>
        </a:spcAft>
        <a:defRPr sz="4500">
          <a:solidFill>
            <a:schemeClr val="tx1"/>
          </a:solidFill>
          <a:latin typeface="Arial" pitchFamily="34" charset="0"/>
          <a:ea typeface="ヒラギノ角ゴ ProN W3" charset="0"/>
          <a:cs typeface="ヒラギノ角ゴ ProN W3" charset="0"/>
          <a:sym typeface="Arial" pitchFamily="34" charset="0"/>
        </a:defRPr>
      </a:lvl7pPr>
      <a:lvl8pPr marL="1411288" algn="ctr" rtl="0" fontAlgn="base">
        <a:spcBef>
          <a:spcPct val="0"/>
        </a:spcBef>
        <a:spcAft>
          <a:spcPct val="0"/>
        </a:spcAft>
        <a:defRPr sz="4500">
          <a:solidFill>
            <a:schemeClr val="tx1"/>
          </a:solidFill>
          <a:latin typeface="Arial" pitchFamily="34" charset="0"/>
          <a:ea typeface="ヒラギノ角ゴ ProN W3" charset="0"/>
          <a:cs typeface="ヒラギノ角ゴ ProN W3" charset="0"/>
          <a:sym typeface="Arial" pitchFamily="34" charset="0"/>
        </a:defRPr>
      </a:lvl8pPr>
      <a:lvl9pPr marL="1868488" algn="ctr" rtl="0" fontAlgn="base">
        <a:spcBef>
          <a:spcPct val="0"/>
        </a:spcBef>
        <a:spcAft>
          <a:spcPct val="0"/>
        </a:spcAft>
        <a:defRPr sz="4500">
          <a:solidFill>
            <a:schemeClr val="tx1"/>
          </a:solidFill>
          <a:latin typeface="Arial" pitchFamily="34" charset="0"/>
          <a:ea typeface="ヒラギノ角ゴ ProN W3" charset="0"/>
          <a:cs typeface="ヒラギノ角ゴ ProN W3" charset="0"/>
          <a:sym typeface="Arial" pitchFamily="34" charset="0"/>
        </a:defRPr>
      </a:lvl9pPr>
    </p:titleStyle>
    <p:bodyStyle>
      <a:lvl1pPr marL="39688" algn="l" rtl="0" fontAlgn="base">
        <a:spcBef>
          <a:spcPts val="6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  <a:sym typeface="Arial Bold" charset="0"/>
        </a:defRPr>
      </a:lvl1pPr>
      <a:lvl2pPr marL="496888" algn="ctr" rtl="0" fontAlgn="base">
        <a:spcBef>
          <a:spcPts val="600"/>
        </a:spcBef>
        <a:spcAft>
          <a:spcPct val="0"/>
        </a:spcAft>
        <a:defRPr sz="2500">
          <a:solidFill>
            <a:schemeClr val="tx1"/>
          </a:solidFill>
          <a:latin typeface="+mj-lt"/>
          <a:ea typeface="+mj-ea"/>
          <a:cs typeface="+mj-cs"/>
          <a:sym typeface="Arial" pitchFamily="34" charset="0"/>
        </a:defRPr>
      </a:lvl2pPr>
      <a:lvl3pPr marL="954088" algn="ctr" rtl="0" fontAlgn="base">
        <a:spcBef>
          <a:spcPts val="500"/>
        </a:spcBef>
        <a:spcAft>
          <a:spcPct val="0"/>
        </a:spcAft>
        <a:defRPr sz="2200">
          <a:solidFill>
            <a:schemeClr val="tx1"/>
          </a:solidFill>
          <a:latin typeface="+mj-lt"/>
          <a:ea typeface="+mj-ea"/>
          <a:cs typeface="+mj-cs"/>
          <a:sym typeface="Arial" pitchFamily="34" charset="0"/>
        </a:defRPr>
      </a:lvl3pPr>
      <a:lvl4pPr marL="1411288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j-lt"/>
          <a:ea typeface="+mj-ea"/>
          <a:cs typeface="+mj-cs"/>
          <a:sym typeface="Arial" pitchFamily="34" charset="0"/>
        </a:defRPr>
      </a:lvl4pPr>
      <a:lvl5pPr marL="1868488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j-lt"/>
          <a:ea typeface="+mj-ea"/>
          <a:cs typeface="+mj-cs"/>
          <a:sym typeface="Arial" pitchFamily="34" charset="0"/>
        </a:defRPr>
      </a:lvl5pPr>
      <a:lvl6pPr marL="2325688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j-lt"/>
          <a:ea typeface="+mj-ea"/>
          <a:cs typeface="+mj-cs"/>
          <a:sym typeface="Arial" pitchFamily="34" charset="0"/>
        </a:defRPr>
      </a:lvl6pPr>
      <a:lvl7pPr marL="2782888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j-lt"/>
          <a:ea typeface="+mj-ea"/>
          <a:cs typeface="+mj-cs"/>
          <a:sym typeface="Arial" pitchFamily="34" charset="0"/>
        </a:defRPr>
      </a:lvl7pPr>
      <a:lvl8pPr marL="3240088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j-lt"/>
          <a:ea typeface="+mj-ea"/>
          <a:cs typeface="+mj-cs"/>
          <a:sym typeface="Arial" pitchFamily="34" charset="0"/>
        </a:defRPr>
      </a:lvl8pPr>
      <a:lvl9pPr marL="3697288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j-lt"/>
          <a:ea typeface="+mj-ea"/>
          <a:cs typeface="+mj-cs"/>
          <a:sym typeface="Arial" pitchFamily="34" charset="0"/>
        </a:defRPr>
      </a:lvl9pPr>
    </p:bodyStyle>
    <p:otherStyle>
      <a:defPPr>
        <a:defRPr lang="ar-EG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3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381000"/>
            <a:ext cx="8458200" cy="914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50800" tIns="50800" rIns="9144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Arial" pitchFamily="34" charset="0"/>
              </a:rPr>
              <a:t>Click to edit Master title style</a:t>
            </a: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1320800"/>
            <a:ext cx="8382000" cy="4673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50800" tIns="50800" rIns="9144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 smtClean="0">
                <a:sym typeface="Arial" pitchFamily="34" charset="0"/>
              </a:rPr>
              <a:t>Second level</a:t>
            </a:r>
          </a:p>
          <a:p>
            <a:pPr lvl="2"/>
            <a:r>
              <a:rPr lang="en-US" smtClean="0">
                <a:sym typeface="Arial" pitchFamily="34" charset="0"/>
              </a:rPr>
              <a:t>Third level</a:t>
            </a:r>
          </a:p>
          <a:p>
            <a:pPr lvl="3"/>
            <a:r>
              <a:rPr lang="en-US" smtClean="0">
                <a:sym typeface="Arial" pitchFamily="34" charset="0"/>
              </a:rPr>
              <a:t>Fourth level</a:t>
            </a:r>
          </a:p>
          <a:p>
            <a:pPr lvl="4"/>
            <a:r>
              <a:rPr lang="en-US" smtClean="0">
                <a:sym typeface="Arial" pitchFamily="34" charset="0"/>
              </a:rPr>
              <a:t>Fifth level</a:t>
            </a:r>
          </a:p>
        </p:txBody>
      </p:sp>
      <p:sp>
        <p:nvSpPr>
          <p:cNvPr id="2051" name="Text Box 3"/>
          <p:cNvSpPr txBox="1">
            <a:spLocks noGrp="1" noChangeArrowheads="1"/>
          </p:cNvSpPr>
          <p:nvPr>
            <p:ph type="sldNum" sz="quarter" idx="4"/>
          </p:nvPr>
        </p:nvSpPr>
        <p:spPr bwMode="auto">
          <a:xfrm>
            <a:off x="8239125" y="6362700"/>
            <a:ext cx="284163" cy="279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chemeClr val="tx1"/>
                </a:solidFill>
                <a:cs typeface="Arial" pitchFamily="34" charset="0"/>
              </a:defRPr>
            </a:lvl1pPr>
          </a:lstStyle>
          <a:p>
            <a:fld id="{E1379C2C-3D70-4A48-BB2E-82407CFD212B}" type="slidenum">
              <a:rPr lang="en-US"/>
              <a:pPr/>
              <a:t>‹#›</a:t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hf hdr="0" ftr="0" dt="0"/>
  <p:txStyles>
    <p:titleStyle>
      <a:lvl1pPr marL="39688" algn="l" rtl="0" fontAlgn="base">
        <a:spcBef>
          <a:spcPct val="0"/>
        </a:spcBef>
        <a:spcAft>
          <a:spcPct val="0"/>
        </a:spcAft>
        <a:defRPr sz="3900">
          <a:solidFill>
            <a:schemeClr val="tx1"/>
          </a:solidFill>
          <a:latin typeface="+mj-lt"/>
          <a:ea typeface="+mj-ea"/>
          <a:cs typeface="+mj-cs"/>
          <a:sym typeface="Arial" pitchFamily="34" charset="0"/>
        </a:defRPr>
      </a:lvl1pPr>
      <a:lvl2pPr marL="39688" algn="l" rtl="0" fontAlgn="base">
        <a:spcBef>
          <a:spcPct val="0"/>
        </a:spcBef>
        <a:spcAft>
          <a:spcPct val="0"/>
        </a:spcAft>
        <a:defRPr sz="3900">
          <a:solidFill>
            <a:schemeClr val="tx1"/>
          </a:solidFill>
          <a:latin typeface="Arial" pitchFamily="34" charset="0"/>
          <a:ea typeface="ヒラギノ角ゴ ProN W3" charset="0"/>
          <a:cs typeface="ヒラギノ角ゴ ProN W3" charset="0"/>
          <a:sym typeface="Arial" pitchFamily="34" charset="0"/>
        </a:defRPr>
      </a:lvl2pPr>
      <a:lvl3pPr marL="39688" algn="l" rtl="0" fontAlgn="base">
        <a:spcBef>
          <a:spcPct val="0"/>
        </a:spcBef>
        <a:spcAft>
          <a:spcPct val="0"/>
        </a:spcAft>
        <a:defRPr sz="3900">
          <a:solidFill>
            <a:schemeClr val="tx1"/>
          </a:solidFill>
          <a:latin typeface="Arial" pitchFamily="34" charset="0"/>
          <a:ea typeface="ヒラギノ角ゴ ProN W3" charset="0"/>
          <a:cs typeface="ヒラギノ角ゴ ProN W3" charset="0"/>
          <a:sym typeface="Arial" pitchFamily="34" charset="0"/>
        </a:defRPr>
      </a:lvl3pPr>
      <a:lvl4pPr marL="39688" algn="l" rtl="0" fontAlgn="base">
        <a:spcBef>
          <a:spcPct val="0"/>
        </a:spcBef>
        <a:spcAft>
          <a:spcPct val="0"/>
        </a:spcAft>
        <a:defRPr sz="3900">
          <a:solidFill>
            <a:schemeClr val="tx1"/>
          </a:solidFill>
          <a:latin typeface="Arial" pitchFamily="34" charset="0"/>
          <a:ea typeface="ヒラギノ角ゴ ProN W3" charset="0"/>
          <a:cs typeface="ヒラギノ角ゴ ProN W3" charset="0"/>
          <a:sym typeface="Arial" pitchFamily="34" charset="0"/>
        </a:defRPr>
      </a:lvl4pPr>
      <a:lvl5pPr marL="39688" algn="l" rtl="0" fontAlgn="base">
        <a:spcBef>
          <a:spcPct val="0"/>
        </a:spcBef>
        <a:spcAft>
          <a:spcPct val="0"/>
        </a:spcAft>
        <a:defRPr sz="3900">
          <a:solidFill>
            <a:schemeClr val="tx1"/>
          </a:solidFill>
          <a:latin typeface="Arial" pitchFamily="34" charset="0"/>
          <a:ea typeface="ヒラギノ角ゴ ProN W3" charset="0"/>
          <a:cs typeface="ヒラギノ角ゴ ProN W3" charset="0"/>
          <a:sym typeface="Arial" pitchFamily="34" charset="0"/>
        </a:defRPr>
      </a:lvl5pPr>
      <a:lvl6pPr marL="496888" algn="l" rtl="0" fontAlgn="base">
        <a:spcBef>
          <a:spcPct val="0"/>
        </a:spcBef>
        <a:spcAft>
          <a:spcPct val="0"/>
        </a:spcAft>
        <a:defRPr sz="3900">
          <a:solidFill>
            <a:schemeClr val="tx1"/>
          </a:solidFill>
          <a:latin typeface="Arial" pitchFamily="34" charset="0"/>
          <a:ea typeface="ヒラギノ角ゴ ProN W3" charset="0"/>
          <a:cs typeface="ヒラギノ角ゴ ProN W3" charset="0"/>
          <a:sym typeface="Arial" pitchFamily="34" charset="0"/>
        </a:defRPr>
      </a:lvl6pPr>
      <a:lvl7pPr marL="954088" algn="l" rtl="0" fontAlgn="base">
        <a:spcBef>
          <a:spcPct val="0"/>
        </a:spcBef>
        <a:spcAft>
          <a:spcPct val="0"/>
        </a:spcAft>
        <a:defRPr sz="3900">
          <a:solidFill>
            <a:schemeClr val="tx1"/>
          </a:solidFill>
          <a:latin typeface="Arial" pitchFamily="34" charset="0"/>
          <a:ea typeface="ヒラギノ角ゴ ProN W3" charset="0"/>
          <a:cs typeface="ヒラギノ角ゴ ProN W3" charset="0"/>
          <a:sym typeface="Arial" pitchFamily="34" charset="0"/>
        </a:defRPr>
      </a:lvl7pPr>
      <a:lvl8pPr marL="1411288" algn="l" rtl="0" fontAlgn="base">
        <a:spcBef>
          <a:spcPct val="0"/>
        </a:spcBef>
        <a:spcAft>
          <a:spcPct val="0"/>
        </a:spcAft>
        <a:defRPr sz="3900">
          <a:solidFill>
            <a:schemeClr val="tx1"/>
          </a:solidFill>
          <a:latin typeface="Arial" pitchFamily="34" charset="0"/>
          <a:ea typeface="ヒラギノ角ゴ ProN W3" charset="0"/>
          <a:cs typeface="ヒラギノ角ゴ ProN W3" charset="0"/>
          <a:sym typeface="Arial" pitchFamily="34" charset="0"/>
        </a:defRPr>
      </a:lvl8pPr>
      <a:lvl9pPr marL="1868488" algn="l" rtl="0" fontAlgn="base">
        <a:spcBef>
          <a:spcPct val="0"/>
        </a:spcBef>
        <a:spcAft>
          <a:spcPct val="0"/>
        </a:spcAft>
        <a:defRPr sz="3900">
          <a:solidFill>
            <a:schemeClr val="tx1"/>
          </a:solidFill>
          <a:latin typeface="Arial" pitchFamily="34" charset="0"/>
          <a:ea typeface="ヒラギノ角ゴ ProN W3" charset="0"/>
          <a:cs typeface="ヒラギノ角ゴ ProN W3" charset="0"/>
          <a:sym typeface="Arial" pitchFamily="34" charset="0"/>
        </a:defRPr>
      </a:lvl9pPr>
    </p:titleStyle>
    <p:bodyStyle>
      <a:lvl1pPr marL="382588" indent="-342900" algn="l" rtl="0" fontAlgn="base">
        <a:spcBef>
          <a:spcPts val="600"/>
        </a:spcBef>
        <a:spcAft>
          <a:spcPct val="0"/>
        </a:spcAft>
        <a:buSzPct val="85000"/>
        <a:buFont typeface="Wingding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1pPr>
      <a:lvl2pPr marL="731838" indent="-285750" algn="l" rtl="0" fontAlgn="base">
        <a:spcBef>
          <a:spcPts val="600"/>
        </a:spcBef>
        <a:spcAft>
          <a:spcPct val="0"/>
        </a:spcAft>
        <a:buClr>
          <a:srgbClr val="FCFFF9"/>
        </a:buClr>
        <a:buSzPct val="69000"/>
        <a:buFont typeface="Wingdings" pitchFamily="2" charset="2"/>
        <a:buChar char="n"/>
        <a:defRPr sz="25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2pPr>
      <a:lvl3pPr marL="1131888" indent="-228600" algn="l" rtl="0" fontAlgn="base">
        <a:spcBef>
          <a:spcPts val="500"/>
        </a:spcBef>
        <a:spcAft>
          <a:spcPct val="0"/>
        </a:spcAft>
        <a:buSzPct val="69000"/>
        <a:buFont typeface="Wingdings" pitchFamily="2" charset="2"/>
        <a:buChar char="p"/>
        <a:defRPr sz="2200">
          <a:solidFill>
            <a:srgbClr val="FFF9F0"/>
          </a:solidFill>
          <a:latin typeface="+mn-lt"/>
          <a:ea typeface="+mn-ea"/>
          <a:cs typeface="+mn-cs"/>
          <a:sym typeface="Arial" pitchFamily="34" charset="0"/>
        </a:defRPr>
      </a:lvl3pPr>
      <a:lvl4pPr marL="1589088" indent="-228600" algn="l" rtl="0" fontAlgn="base">
        <a:spcBef>
          <a:spcPts val="500"/>
        </a:spcBef>
        <a:spcAft>
          <a:spcPct val="0"/>
        </a:spcAft>
        <a:buClr>
          <a:srgbClr val="FFFAFD"/>
        </a:buClr>
        <a:buSzPct val="69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4pPr>
      <a:lvl5pPr marL="2046288" indent="-228600" algn="l" rtl="0" fontAlgn="base">
        <a:spcBef>
          <a:spcPts val="500"/>
        </a:spcBef>
        <a:spcAft>
          <a:spcPct val="0"/>
        </a:spcAft>
        <a:buClr>
          <a:srgbClr val="FFFDFA"/>
        </a:buClr>
        <a:buSzPct val="69000"/>
        <a:buFont typeface="Wingdings" pitchFamily="2" charset="2"/>
        <a:buChar char="o"/>
        <a:defRPr sz="20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5pPr>
      <a:lvl6pPr marL="2503488" indent="-228600" algn="l" rtl="0" fontAlgn="base">
        <a:spcBef>
          <a:spcPts val="500"/>
        </a:spcBef>
        <a:spcAft>
          <a:spcPct val="0"/>
        </a:spcAft>
        <a:buClr>
          <a:srgbClr val="FFFDFA"/>
        </a:buClr>
        <a:buSzPct val="69000"/>
        <a:buFont typeface="Wingdings" pitchFamily="2" charset="2"/>
        <a:buChar char="o"/>
        <a:defRPr sz="20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6pPr>
      <a:lvl7pPr marL="2960688" indent="-228600" algn="l" rtl="0" fontAlgn="base">
        <a:spcBef>
          <a:spcPts val="500"/>
        </a:spcBef>
        <a:spcAft>
          <a:spcPct val="0"/>
        </a:spcAft>
        <a:buClr>
          <a:srgbClr val="FFFDFA"/>
        </a:buClr>
        <a:buSzPct val="69000"/>
        <a:buFont typeface="Wingdings" pitchFamily="2" charset="2"/>
        <a:buChar char="o"/>
        <a:defRPr sz="20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7pPr>
      <a:lvl8pPr marL="3417888" indent="-228600" algn="l" rtl="0" fontAlgn="base">
        <a:spcBef>
          <a:spcPts val="500"/>
        </a:spcBef>
        <a:spcAft>
          <a:spcPct val="0"/>
        </a:spcAft>
        <a:buClr>
          <a:srgbClr val="FFFDFA"/>
        </a:buClr>
        <a:buSzPct val="69000"/>
        <a:buFont typeface="Wingdings" pitchFamily="2" charset="2"/>
        <a:buChar char="o"/>
        <a:defRPr sz="20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8pPr>
      <a:lvl9pPr marL="3875088" indent="-228600" algn="l" rtl="0" fontAlgn="base">
        <a:spcBef>
          <a:spcPts val="500"/>
        </a:spcBef>
        <a:spcAft>
          <a:spcPct val="0"/>
        </a:spcAft>
        <a:buClr>
          <a:srgbClr val="FFFDFA"/>
        </a:buClr>
        <a:buSzPct val="69000"/>
        <a:buFont typeface="Wingdings" pitchFamily="2" charset="2"/>
        <a:buChar char="o"/>
        <a:defRPr sz="20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9pPr>
    </p:bodyStyle>
    <p:otherStyle>
      <a:defPPr>
        <a:defRPr lang="ar-EG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714612" y="2714620"/>
            <a:ext cx="38395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Lecture # 9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143108" y="1142984"/>
            <a:ext cx="499367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Expert System</a:t>
            </a:r>
            <a:endParaRPr lang="en-US" sz="5400" b="1" cap="none" spc="0" dirty="0">
              <a:ln w="31550" cmpd="sng">
                <a:gradFill>
                  <a:gsLst>
                    <a:gs pos="25000">
                      <a:schemeClr val="accent1">
                        <a:shade val="25000"/>
                        <a:satMod val="190000"/>
                      </a:schemeClr>
                    </a:gs>
                    <a:gs pos="80000">
                      <a:schemeClr val="accent1">
                        <a:tint val="75000"/>
                        <a:satMod val="19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rgbClr val="FFFFFF"/>
              </a:solidFill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0" y="6525344"/>
            <a:ext cx="9036496" cy="332656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9686" y="83458"/>
            <a:ext cx="186621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Agenda</a:t>
            </a:r>
            <a:endParaRPr lang="en-US" sz="40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7544" y="980728"/>
            <a:ext cx="2274982" cy="300082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dirty="0" smtClean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/>
              <a:t>Questions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/>
              <a:t>CLIPS Example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/>
              <a:t>Frame</a:t>
            </a:r>
            <a:endParaRPr lang="en-US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b="1" dirty="0" smtClean="0">
              <a:solidFill>
                <a:schemeClr val="accent2"/>
              </a:solidFill>
              <a:latin typeface="Times New Roman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b="1" dirty="0" smtClean="0">
              <a:solidFill>
                <a:schemeClr val="accent2"/>
              </a:solidFill>
              <a:latin typeface="Times New Roman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4086844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67544" y="620688"/>
            <a:ext cx="32303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What are Expert Systems?</a:t>
            </a:r>
          </a:p>
        </p:txBody>
      </p:sp>
      <p:sp>
        <p:nvSpPr>
          <p:cNvPr id="6" name="Rectangle 5"/>
          <p:cNvSpPr/>
          <p:nvPr/>
        </p:nvSpPr>
        <p:spPr>
          <a:xfrm>
            <a:off x="467544" y="1412776"/>
            <a:ext cx="36471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Characteristics of Expert 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6056" y="1629071"/>
            <a:ext cx="3168352" cy="1754326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High performance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Understandable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Reliable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Highly responsive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634256" y="4221088"/>
            <a:ext cx="33137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Capabilities of Expert Systems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786" y="4797152"/>
            <a:ext cx="7193574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Components of Expert </a:t>
            </a:r>
            <a:r>
              <a:rPr lang="en-US" dirty="0" smtClean="0"/>
              <a:t>Systems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899592" y="5352645"/>
            <a:ext cx="4572000" cy="133882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Knowledge Base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Inference Engine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User Interface</a:t>
            </a:r>
          </a:p>
        </p:txBody>
      </p:sp>
      <p:sp>
        <p:nvSpPr>
          <p:cNvPr id="2" name="Rectangle 1"/>
          <p:cNvSpPr/>
          <p:nvPr/>
        </p:nvSpPr>
        <p:spPr>
          <a:xfrm>
            <a:off x="179512" y="2506234"/>
            <a:ext cx="4572000" cy="64633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dirty="0">
                <a:solidFill>
                  <a:srgbClr val="2D3639"/>
                </a:solidFill>
                <a:latin typeface="hurme_no2-webfont"/>
              </a:rPr>
              <a:t>Watson, an expert system developed by IBM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967969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/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85852" y="0"/>
            <a:ext cx="6286512" cy="83099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 smtClean="0"/>
              <a:t>KNOWLEDGE REPRESENTATION</a:t>
            </a:r>
          </a:p>
          <a:p>
            <a:pPr algn="ctr"/>
            <a:r>
              <a:rPr lang="en-US" sz="2400" b="1" dirty="0" smtClean="0"/>
              <a:t> </a:t>
            </a:r>
            <a:endParaRPr lang="ar-EG" sz="2400" b="1" dirty="0"/>
          </a:p>
        </p:txBody>
      </p:sp>
      <p:sp>
        <p:nvSpPr>
          <p:cNvPr id="6" name="Rectangle 5"/>
          <p:cNvSpPr/>
          <p:nvPr/>
        </p:nvSpPr>
        <p:spPr>
          <a:xfrm>
            <a:off x="214282" y="928670"/>
            <a:ext cx="8929718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FACTS</a:t>
            </a:r>
            <a:r>
              <a:rPr lang="en-US" sz="2000" dirty="0" smtClean="0"/>
              <a:t>: deffacts constructs, assert a list of facts.</a:t>
            </a:r>
          </a:p>
          <a:p>
            <a:pPr>
              <a:lnSpc>
                <a:spcPct val="150000"/>
              </a:lnSpc>
            </a:pPr>
            <a:r>
              <a:rPr lang="en-US" sz="2000" dirty="0" smtClean="0"/>
              <a:t>Syntax: (deffacts &lt;deffacts-name&gt; [&lt;comment&gt;]</a:t>
            </a:r>
          </a:p>
          <a:p>
            <a:pPr>
              <a:lnSpc>
                <a:spcPct val="150000"/>
              </a:lnSpc>
            </a:pPr>
            <a:r>
              <a:rPr lang="en-US" sz="2000" dirty="0" smtClean="0"/>
              <a:t>              &lt;RHS-pattern&gt;*)</a:t>
            </a:r>
          </a:p>
          <a:p>
            <a:pPr>
              <a:lnSpc>
                <a:spcPct val="150000"/>
              </a:lnSpc>
            </a:pPr>
            <a:r>
              <a:rPr lang="en-US" sz="2000" dirty="0" smtClean="0"/>
              <a:t> </a:t>
            </a:r>
            <a:r>
              <a:rPr lang="en-US" sz="2000" dirty="0" smtClean="0">
                <a:solidFill>
                  <a:srgbClr val="FFFF00"/>
                </a:solidFill>
              </a:rPr>
              <a:t>Example (deffacts home “This is facts about home”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rgbClr val="FFFF00"/>
                </a:solidFill>
              </a:rPr>
              <a:t>               (door is open) )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3429000"/>
            <a:ext cx="9144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after writing the facts we would like to Execute the program to execute we must use the following command. </a:t>
            </a:r>
          </a:p>
          <a:p>
            <a:r>
              <a:rPr lang="en-US" sz="2000" dirty="0" smtClean="0">
                <a:solidFill>
                  <a:srgbClr val="FFFF00"/>
                </a:solidFill>
              </a:rPr>
              <a:t>(reset)</a:t>
            </a:r>
          </a:p>
          <a:p>
            <a:r>
              <a:rPr lang="en-US" sz="2000" dirty="0" smtClean="0">
                <a:solidFill>
                  <a:srgbClr val="FFFF00"/>
                </a:solidFill>
              </a:rPr>
              <a:t> (run) </a:t>
            </a:r>
            <a:endParaRPr lang="ar-EG" sz="2000" dirty="0">
              <a:solidFill>
                <a:srgbClr val="FFFF00"/>
              </a:solidFill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57422" y="4143380"/>
            <a:ext cx="2672061" cy="7524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28860" y="5072074"/>
            <a:ext cx="2571768" cy="1484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214290"/>
            <a:ext cx="7715304" cy="2325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571472" y="2714620"/>
            <a:ext cx="1624163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2000" dirty="0" smtClean="0"/>
              <a:t>Define Facts</a:t>
            </a:r>
            <a:endParaRPr lang="ar-EG" sz="2000" dirty="0"/>
          </a:p>
        </p:txBody>
      </p:sp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3438" y="3071810"/>
            <a:ext cx="4286280" cy="35599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5750D5-A3B5-4A12-BB86-7C0737E5189A}" type="slidenum">
              <a:rPr lang="en-US"/>
              <a:pPr/>
              <a:t>6</a:t>
            </a:fld>
            <a:endParaRPr lang="en-US"/>
          </a:p>
        </p:txBody>
      </p:sp>
      <p:sp>
        <p:nvSpPr>
          <p:cNvPr id="11265" name="Rectangle 1"/>
          <p:cNvSpPr>
            <a:spLocks/>
          </p:cNvSpPr>
          <p:nvPr/>
        </p:nvSpPr>
        <p:spPr bwMode="auto">
          <a:xfrm>
            <a:off x="2500298" y="6357958"/>
            <a:ext cx="3543300" cy="2794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40639" bIns="0"/>
          <a:lstStyle/>
          <a:p>
            <a:pPr marL="39688" algn="ctr"/>
            <a:r>
              <a:rPr lang="en-US" sz="1200">
                <a:solidFill>
                  <a:schemeClr val="tx1"/>
                </a:solidFill>
                <a:cs typeface="Arial" pitchFamily="34" charset="0"/>
              </a:rPr>
              <a:t>Knowledge-Based Systems, Paula Matuszek</a:t>
            </a:r>
          </a:p>
        </p:txBody>
      </p:sp>
      <p:sp>
        <p:nvSpPr>
          <p:cNvPr id="11266" name="Line 2"/>
          <p:cNvSpPr>
            <a:spLocks noChangeShapeType="1"/>
          </p:cNvSpPr>
          <p:nvPr/>
        </p:nvSpPr>
        <p:spPr bwMode="auto">
          <a:xfrm>
            <a:off x="266700" y="6172200"/>
            <a:ext cx="8610600" cy="1588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ar-EG"/>
          </a:p>
        </p:txBody>
      </p:sp>
      <p:sp>
        <p:nvSpPr>
          <p:cNvPr id="11267" name="Line 3"/>
          <p:cNvSpPr>
            <a:spLocks noChangeShapeType="1"/>
          </p:cNvSpPr>
          <p:nvPr/>
        </p:nvSpPr>
        <p:spPr bwMode="auto">
          <a:xfrm>
            <a:off x="228600" y="304800"/>
            <a:ext cx="8610600" cy="1588"/>
          </a:xfrm>
          <a:prstGeom prst="line">
            <a:avLst/>
          </a:prstGeom>
          <a:noFill/>
          <a:ln w="762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ar-EG"/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 rIns="132080"/>
          <a:lstStyle/>
          <a:p>
            <a:r>
              <a:rPr lang="en-US"/>
              <a:t>Retracting Facts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rIns="132080"/>
          <a:lstStyle/>
          <a:p>
            <a:r>
              <a:rPr lang="en-US" dirty="0"/>
              <a:t>Facts can be </a:t>
            </a:r>
            <a:r>
              <a:rPr lang="en-US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removed</a:t>
            </a:r>
            <a:r>
              <a:rPr lang="en-US" dirty="0" smtClean="0"/>
              <a:t> using </a:t>
            </a:r>
            <a:r>
              <a:rPr lang="en-US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retract</a:t>
            </a:r>
            <a:r>
              <a:rPr lang="en-US" dirty="0" smtClean="0"/>
              <a:t> </a:t>
            </a:r>
            <a:endParaRPr lang="en-US" dirty="0"/>
          </a:p>
          <a:p>
            <a:pPr marL="782638" lvl="1" indent="-336550"/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(retract &lt;fact-index&gt;)</a:t>
            </a:r>
          </a:p>
          <a:p>
            <a:pPr marL="782638" lvl="1" indent="-336550"/>
            <a:r>
              <a:rPr lang="en-US" sz="1800" dirty="0">
                <a:latin typeface="Courier New" pitchFamily="49" charset="0"/>
                <a:cs typeface="Courier New" pitchFamily="49" charset="0"/>
                <a:sym typeface="Courier New" pitchFamily="49" charset="0"/>
              </a:rPr>
              <a:t>CLIPS&gt; (retract 1)</a:t>
            </a:r>
            <a:endParaRPr lang="en-US" sz="1800" dirty="0">
              <a:latin typeface="Courier New" pitchFamily="49" charset="0"/>
              <a:sym typeface="Courier New" pitchFamily="49" charset="0"/>
            </a:endParaRPr>
          </a:p>
          <a:p>
            <a:pPr marL="782638" lvl="1" indent="-336550"/>
            <a:r>
              <a:rPr lang="en-US" sz="1800" dirty="0">
                <a:latin typeface="Courier New" pitchFamily="49" charset="0"/>
                <a:cs typeface="Courier New" pitchFamily="49" charset="0"/>
                <a:sym typeface="Courier New" pitchFamily="49" charset="0"/>
              </a:rPr>
              <a:t>CLIPS&gt; (facts)</a:t>
            </a:r>
            <a:endParaRPr lang="en-US" sz="1800" dirty="0">
              <a:latin typeface="Courier New" pitchFamily="49" charset="0"/>
              <a:sym typeface="Courier New" pitchFamily="49" charset="0"/>
            </a:endParaRPr>
          </a:p>
          <a:p>
            <a:pPr marL="782638" lvl="1" indent="-336550"/>
            <a:r>
              <a:rPr lang="en-US" sz="1800" dirty="0">
                <a:latin typeface="Courier New" pitchFamily="49" charset="0"/>
                <a:cs typeface="Courier New" pitchFamily="49" charset="0"/>
                <a:sym typeface="Courier New" pitchFamily="49" charset="0"/>
              </a:rPr>
              <a:t>f-0     (initial-fact)</a:t>
            </a:r>
            <a:endParaRPr lang="en-US" sz="1800" dirty="0">
              <a:latin typeface="Courier New" pitchFamily="49" charset="0"/>
              <a:sym typeface="Courier New" pitchFamily="49" charset="0"/>
            </a:endParaRPr>
          </a:p>
          <a:p>
            <a:pPr marL="782638" lvl="1" indent="-336550"/>
            <a:r>
              <a:rPr lang="en-US" sz="1800" dirty="0">
                <a:latin typeface="Courier New" pitchFamily="49" charset="0"/>
                <a:cs typeface="Courier New" pitchFamily="49" charset="0"/>
                <a:sym typeface="Courier New" pitchFamily="49" charset="0"/>
              </a:rPr>
              <a:t>f-2     (snowing Jan11)</a:t>
            </a:r>
            <a:endParaRPr lang="en-US" sz="1800" dirty="0">
              <a:latin typeface="Courier New" pitchFamily="49" charset="0"/>
              <a:sym typeface="Courier New" pitchFamily="49" charset="0"/>
            </a:endParaRPr>
          </a:p>
          <a:p>
            <a:pPr marL="782638" lvl="1" indent="-336550"/>
            <a:r>
              <a:rPr lang="en-US" sz="1800" dirty="0">
                <a:latin typeface="Courier New" pitchFamily="49" charset="0"/>
                <a:cs typeface="Courier New" pitchFamily="49" charset="0"/>
                <a:sym typeface="Courier New" pitchFamily="49" charset="0"/>
              </a:rPr>
              <a:t>For a total of 2 facts.</a:t>
            </a:r>
            <a:endParaRPr lang="en-US" sz="1800" dirty="0">
              <a:latin typeface="Courier New" pitchFamily="49" charset="0"/>
              <a:sym typeface="Courier New" pitchFamily="49" charset="0"/>
            </a:endParaRPr>
          </a:p>
          <a:p>
            <a:pPr marL="782638" lvl="1" indent="-336550"/>
            <a:r>
              <a:rPr lang="en-US" sz="1800" dirty="0">
                <a:latin typeface="Courier New" pitchFamily="49" charset="0"/>
                <a:cs typeface="Courier New" pitchFamily="49" charset="0"/>
                <a:sym typeface="Courier New" pitchFamily="49" charset="0"/>
              </a:rPr>
              <a:t>CLIPS&gt; </a:t>
            </a:r>
            <a:endParaRPr lang="en-US" sz="1800" dirty="0">
              <a:latin typeface="Courier New" pitchFamily="49" charset="0"/>
              <a:sym typeface="Courier New" pitchFamily="49" charset="0"/>
            </a:endParaRPr>
          </a:p>
          <a:p>
            <a:r>
              <a:rPr lang="en-US" dirty="0"/>
              <a:t>Retract can be used for more than one fact</a:t>
            </a:r>
          </a:p>
          <a:p>
            <a:pPr marL="782638" lvl="1" indent="-336550"/>
            <a:r>
              <a:rPr lang="en-US" sz="1800" dirty="0">
                <a:latin typeface="Courier New" pitchFamily="49" charset="0"/>
                <a:cs typeface="Courier New" pitchFamily="49" charset="0"/>
                <a:sym typeface="Courier New" pitchFamily="49" charset="0"/>
              </a:rPr>
              <a:t>CLIPS&gt; (retract 0 2)</a:t>
            </a:r>
            <a:endParaRPr lang="en-US" sz="1800" dirty="0">
              <a:latin typeface="Courier New" pitchFamily="49" charset="0"/>
              <a:sym typeface="Courier New" pitchFamily="49" charset="0"/>
            </a:endParaRPr>
          </a:p>
          <a:p>
            <a:pPr marL="782638" lvl="1" indent="-336550"/>
            <a:r>
              <a:rPr lang="en-US" sz="1800" dirty="0">
                <a:latin typeface="Courier New" pitchFamily="49" charset="0"/>
                <a:cs typeface="Courier New" pitchFamily="49" charset="0"/>
                <a:sym typeface="Courier New" pitchFamily="49" charset="0"/>
              </a:rPr>
              <a:t>CLIPS&gt; (facts)</a:t>
            </a:r>
            <a:endParaRPr lang="en-US" sz="1800" dirty="0">
              <a:latin typeface="Courier New" pitchFamily="49" charset="0"/>
              <a:sym typeface="Courier New" pitchFamily="49" charset="0"/>
            </a:endParaRPr>
          </a:p>
          <a:p>
            <a:pPr marL="782638" lvl="1" indent="-336550"/>
            <a:r>
              <a:rPr lang="en-US" sz="1800" dirty="0">
                <a:latin typeface="Courier New" pitchFamily="49" charset="0"/>
                <a:cs typeface="Courier New" pitchFamily="49" charset="0"/>
                <a:sym typeface="Courier New" pitchFamily="49" charset="0"/>
              </a:rPr>
              <a:t>CLIPS&gt; </a:t>
            </a:r>
            <a:endParaRPr lang="en-US" sz="1800" dirty="0">
              <a:latin typeface="Courier New" pitchFamily="49" charset="0"/>
              <a:sym typeface="Courier New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12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12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12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12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12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12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12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112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112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1127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1127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127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11D30C-3BC6-48D4-882A-3F561B965AA0}" type="slidenum">
              <a:rPr lang="en-US"/>
              <a:pPr/>
              <a:t>7</a:t>
            </a:fld>
            <a:endParaRPr lang="en-US"/>
          </a:p>
        </p:txBody>
      </p:sp>
      <p:sp>
        <p:nvSpPr>
          <p:cNvPr id="12293" name="Rectangle 5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458200" cy="914400"/>
          </a:xfrm>
          <a:ln/>
        </p:spPr>
        <p:txBody>
          <a:bodyPr rIns="132080"/>
          <a:lstStyle/>
          <a:p>
            <a:r>
              <a:rPr lang="en-US"/>
              <a:t>Rules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285720" y="2184400"/>
            <a:ext cx="8382000" cy="4673600"/>
          </a:xfrm>
          <a:ln/>
        </p:spPr>
        <p:txBody>
          <a:bodyPr rIns="132080"/>
          <a:lstStyle/>
          <a:p>
            <a:pPr>
              <a:buFont typeface="Wingdings" pitchFamily="2" charset="2"/>
              <a:buChar char="Ø"/>
            </a:pPr>
            <a:r>
              <a:rPr lang="en-US" dirty="0"/>
              <a:t>Rules in </a:t>
            </a:r>
            <a:r>
              <a:rPr lang="en-US" dirty="0">
                <a:solidFill>
                  <a:srgbClr val="FFFF00"/>
                </a:solidFill>
              </a:rPr>
              <a:t>CLIPS are forward chaining production </a:t>
            </a:r>
            <a:r>
              <a:rPr lang="en-US" dirty="0"/>
              <a:t>rules.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rgbClr val="FFFF00"/>
                </a:solidFill>
              </a:rPr>
              <a:t>LHS</a:t>
            </a:r>
            <a:r>
              <a:rPr lang="en-US" dirty="0"/>
              <a:t> = Left Hand Side = IF = </a:t>
            </a:r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triggers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rgbClr val="FFFF00"/>
                </a:solidFill>
              </a:rPr>
              <a:t>RHS</a:t>
            </a:r>
            <a:r>
              <a:rPr lang="en-US" dirty="0"/>
              <a:t> = Right Hand side = THEN = 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actions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So a rule has a set of </a:t>
            </a:r>
            <a:r>
              <a:rPr lang="en-US" dirty="0">
                <a:solidFill>
                  <a:srgbClr val="FFFF00"/>
                </a:solidFill>
              </a:rPr>
              <a:t>triggers</a:t>
            </a:r>
            <a:r>
              <a:rPr lang="en-US" dirty="0"/>
              <a:t>; when they are </a:t>
            </a:r>
            <a:r>
              <a:rPr lang="en-US" dirty="0">
                <a:solidFill>
                  <a:srgbClr val="FFFF00"/>
                </a:solidFill>
              </a:rPr>
              <a:t>true</a:t>
            </a:r>
            <a:r>
              <a:rPr lang="en-US" dirty="0"/>
              <a:t> that </a:t>
            </a:r>
            <a:r>
              <a:rPr lang="en-US" dirty="0">
                <a:solidFill>
                  <a:srgbClr val="FFFF00"/>
                </a:solidFill>
              </a:rPr>
              <a:t>rule</a:t>
            </a:r>
            <a:r>
              <a:rPr lang="en-US" dirty="0"/>
              <a:t> is activated.  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When a </a:t>
            </a:r>
            <a:r>
              <a:rPr lang="en-US" dirty="0">
                <a:solidFill>
                  <a:srgbClr val="FFFF00"/>
                </a:solidFill>
              </a:rPr>
              <a:t>rule</a:t>
            </a:r>
            <a:r>
              <a:rPr lang="en-US" dirty="0"/>
              <a:t> is </a:t>
            </a:r>
            <a:r>
              <a:rPr lang="en-US" dirty="0">
                <a:solidFill>
                  <a:srgbClr val="FFFF00"/>
                </a:solidFill>
              </a:rPr>
              <a:t>fired</a:t>
            </a:r>
            <a:r>
              <a:rPr lang="en-US" dirty="0"/>
              <a:t> the 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actions</a:t>
            </a:r>
            <a:r>
              <a:rPr lang="en-US" dirty="0"/>
              <a:t> take place.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Conflict resolution </a:t>
            </a:r>
            <a:r>
              <a:rPr lang="en-US" dirty="0"/>
              <a:t>determines </a:t>
            </a:r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which of the activated rules actually fires.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785794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One of the primary method to represents knowledge in CLIPS is a rule, A rule is a collection of condition and action to be taken if the condition met.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2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22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22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22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22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22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3" y="357166"/>
            <a:ext cx="8808654" cy="528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20" y="5715016"/>
            <a:ext cx="1714512" cy="493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00562" y="5685077"/>
            <a:ext cx="1571636" cy="868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ight Arrow 7"/>
          <p:cNvSpPr/>
          <p:nvPr/>
        </p:nvSpPr>
        <p:spPr bwMode="auto">
          <a:xfrm>
            <a:off x="2143108" y="5929330"/>
            <a:ext cx="2357454" cy="357190"/>
          </a:xfrm>
          <a:prstGeom prst="rightArrow">
            <a:avLst/>
          </a:prstGeom>
          <a:solidFill>
            <a:srgbClr val="CC9900"/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sz="18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Arial" pitchFamily="34" charset="0"/>
              <a:ea typeface="ヒラギノ角ゴ ProN W3" charset="0"/>
              <a:cs typeface="ヒラギノ角ゴ ProN W3" charset="0"/>
              <a:sym typeface="Arial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Example</a:t>
            </a:r>
            <a:r>
              <a:rPr lang="en-US" sz="2400" dirty="0" smtClean="0"/>
              <a:t> : Represents the below facts in Knowledge base and find out how miss the rage of the salary according to employee major.</a:t>
            </a:r>
            <a:endParaRPr lang="en-US" sz="24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1000108"/>
            <a:ext cx="6072230" cy="36520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285720" y="4786322"/>
            <a:ext cx="4857784" cy="369332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Who has more or less than regular salary</a:t>
            </a:r>
            <a:endParaRPr lang="ar-EG" b="1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85720" y="5286388"/>
            <a:ext cx="4857784" cy="369332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the output should be look like this </a:t>
            </a:r>
            <a:endParaRPr lang="ar-EG" b="1" dirty="0">
              <a:solidFill>
                <a:srgbClr val="FF0000"/>
              </a:solidFill>
            </a:endParaRP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86446" y="5214950"/>
            <a:ext cx="2243789" cy="1214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"/>
            <a:ext cx="5643570" cy="17793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2000240"/>
            <a:ext cx="4439510" cy="1143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57290" y="3295235"/>
            <a:ext cx="5357850" cy="35627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3214686"/>
            <a:ext cx="5365511" cy="3643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024419" y="3214686"/>
            <a:ext cx="4119581" cy="3643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>
          <a:xfrm>
            <a:off x="2987824" y="0"/>
            <a:ext cx="2742953" cy="804862"/>
          </a:xfrm>
        </p:spPr>
        <p:txBody>
          <a:bodyPr/>
          <a:lstStyle/>
          <a:p>
            <a:pPr>
              <a:buFont typeface="Monotype Sorts" charset="2"/>
              <a:buNone/>
            </a:pP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Frame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80728"/>
            <a:ext cx="8839200" cy="4648200"/>
          </a:xfrm>
        </p:spPr>
        <p:txBody>
          <a:bodyPr/>
          <a:lstStyle/>
          <a:p>
            <a:pPr>
              <a:buFont typeface="Monotype Sorts" charset="2"/>
              <a:buChar char="u"/>
            </a:pPr>
            <a:r>
              <a:rPr lang="en-US" dirty="0"/>
              <a:t>represents related knowledge about a subject</a:t>
            </a:r>
          </a:p>
          <a:p>
            <a:pPr lvl="1">
              <a:buFont typeface="Monotype Sorts" charset="2"/>
              <a:buChar char="u"/>
            </a:pPr>
            <a:r>
              <a:rPr lang="en-US" dirty="0"/>
              <a:t>provides default values for most slots</a:t>
            </a:r>
          </a:p>
          <a:p>
            <a:pPr>
              <a:buFont typeface="Monotype Sorts" charset="2"/>
              <a:buChar char="u"/>
            </a:pPr>
            <a:r>
              <a:rPr lang="en-US" dirty="0"/>
              <a:t>frames are organized hierarchically </a:t>
            </a:r>
          </a:p>
          <a:p>
            <a:pPr lvl="1">
              <a:buFont typeface="Monotype Sorts" charset="2"/>
              <a:buChar char="u"/>
            </a:pPr>
            <a:r>
              <a:rPr lang="en-US" dirty="0"/>
              <a:t>allows the use of inheritance</a:t>
            </a:r>
          </a:p>
          <a:p>
            <a:pPr>
              <a:buFont typeface="Monotype Sorts" charset="2"/>
              <a:buChar char="u"/>
            </a:pPr>
            <a:r>
              <a:rPr lang="en-US" dirty="0"/>
              <a:t>knowledge is usually organized according to </a:t>
            </a:r>
            <a:r>
              <a:rPr lang="en-US" b="1" u="sng" dirty="0">
                <a:solidFill>
                  <a:schemeClr val="tx1">
                    <a:lumMod val="75000"/>
                  </a:schemeClr>
                </a:solidFill>
              </a:rPr>
              <a:t>cause</a:t>
            </a:r>
            <a:r>
              <a:rPr lang="en-US" dirty="0"/>
              <a:t> and </a:t>
            </a:r>
            <a:r>
              <a:rPr lang="en-US" b="1" u="sng" dirty="0">
                <a:solidFill>
                  <a:schemeClr val="tx1">
                    <a:lumMod val="75000"/>
                  </a:schemeClr>
                </a:solidFill>
              </a:rPr>
              <a:t>effect</a:t>
            </a:r>
            <a:r>
              <a:rPr lang="en-US" dirty="0"/>
              <a:t> relationships</a:t>
            </a:r>
          </a:p>
          <a:p>
            <a:pPr lvl="1">
              <a:buFont typeface="Monotype Sorts" charset="2"/>
              <a:buChar char="u"/>
            </a:pPr>
            <a:r>
              <a:rPr lang="en-US" dirty="0"/>
              <a:t>slots can contain all kinds of items</a:t>
            </a:r>
          </a:p>
          <a:p>
            <a:pPr lvl="2">
              <a:buFont typeface="Monotype Sorts" charset="2"/>
              <a:buChar char="u"/>
            </a:pPr>
            <a:r>
              <a:rPr lang="en-US" dirty="0"/>
              <a:t>rules, facts, images, video, comments, debugging info, questions, hypotheses, other frames</a:t>
            </a:r>
          </a:p>
          <a:p>
            <a:pPr lvl="1">
              <a:buFont typeface="Monotype Sorts" charset="2"/>
              <a:buChar char="u"/>
            </a:pPr>
            <a:r>
              <a:rPr lang="en-US" dirty="0"/>
              <a:t>slots can also have </a:t>
            </a:r>
            <a:r>
              <a:rPr lang="en-US" i="1" dirty="0"/>
              <a:t>procedural attachments</a:t>
            </a:r>
            <a:endParaRPr lang="en-US" dirty="0"/>
          </a:p>
          <a:p>
            <a:pPr lvl="2">
              <a:buFont typeface="Monotype Sorts" charset="2"/>
              <a:buChar char="u"/>
            </a:pPr>
            <a:r>
              <a:rPr lang="en-US" dirty="0"/>
              <a:t>procedures that are invoked in specific situations involving a particular slot</a:t>
            </a:r>
          </a:p>
          <a:p>
            <a:pPr lvl="3">
              <a:buFont typeface="Monotype Sorts" charset="2"/>
              <a:buChar char="u"/>
            </a:pPr>
            <a:r>
              <a:rPr lang="en-US" dirty="0"/>
              <a:t>on creation, modification, removal of the slot value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0" y="6525344"/>
            <a:ext cx="9036496" cy="332656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250125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94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94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94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94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4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4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4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4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4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942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942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42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942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42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42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Rectangle 2"/>
          <p:cNvSpPr>
            <a:spLocks noGrp="1" noChangeArrowheads="1"/>
          </p:cNvSpPr>
          <p:nvPr>
            <p:ph type="title"/>
          </p:nvPr>
        </p:nvSpPr>
        <p:spPr>
          <a:xfrm>
            <a:off x="2542728" y="16735"/>
            <a:ext cx="4055368" cy="804862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chemeClr val="tx1">
                    <a:lumMod val="75000"/>
                  </a:schemeClr>
                </a:solidFill>
                <a:latin typeface="Times New Roman" pitchFamily="18" charset="0"/>
              </a:rPr>
              <a:t>A Car Frame</a:t>
            </a:r>
          </a:p>
        </p:txBody>
      </p:sp>
      <p:pic>
        <p:nvPicPr>
          <p:cNvPr id="38919" name="Picture 6" descr="fig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 t="7324"/>
          <a:stretch>
            <a:fillRect/>
          </a:stretch>
        </p:blipFill>
        <p:spPr>
          <a:xfrm>
            <a:off x="457200" y="842876"/>
            <a:ext cx="8229600" cy="4690872"/>
          </a:xfrm>
          <a:noFill/>
        </p:spPr>
      </p:pic>
      <p:sp>
        <p:nvSpPr>
          <p:cNvPr id="5" name="Rectangle 4"/>
          <p:cNvSpPr/>
          <p:nvPr/>
        </p:nvSpPr>
        <p:spPr bwMode="auto">
          <a:xfrm>
            <a:off x="0" y="6525344"/>
            <a:ext cx="9142412" cy="332656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1355342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>
          <a:xfrm>
            <a:off x="176213" y="43559"/>
            <a:ext cx="8610600" cy="804862"/>
          </a:xfrm>
        </p:spPr>
        <p:txBody>
          <a:bodyPr/>
          <a:lstStyle/>
          <a:p>
            <a:r>
              <a:rPr lang="en-US" sz="4000" dirty="0">
                <a:solidFill>
                  <a:schemeClr val="tx1">
                    <a:lumMod val="75000"/>
                  </a:schemeClr>
                </a:solidFill>
              </a:rPr>
              <a:t>Overview of Frame Structure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6213" y="848421"/>
            <a:ext cx="8839200" cy="4648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 smtClean="0"/>
              <a:t>Two </a:t>
            </a:r>
            <a:r>
              <a:rPr lang="en-US" sz="2400" dirty="0"/>
              <a:t>basic elements: </a:t>
            </a:r>
            <a:r>
              <a:rPr lang="en-US" sz="2400" i="1" dirty="0"/>
              <a:t>slots</a:t>
            </a:r>
            <a:r>
              <a:rPr lang="en-US" sz="2400" dirty="0"/>
              <a:t> and </a:t>
            </a:r>
            <a:r>
              <a:rPr lang="en-US" sz="2400" i="1" dirty="0"/>
              <a:t>facets</a:t>
            </a:r>
            <a:r>
              <a:rPr lang="en-US" sz="2400" dirty="0"/>
              <a:t> (fillers, values, etc.); 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typically have parent and offspring slots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/>
              <a:t>used to establish a property inheritance hierarchy </a:t>
            </a:r>
            <a:r>
              <a:rPr lang="en-US" sz="2000" dirty="0"/>
              <a:t/>
            </a:r>
            <a:br>
              <a:rPr lang="en-US" sz="2000" dirty="0"/>
            </a:b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400" dirty="0"/>
              <a:t>descriptive slots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contain declarative information or data (static knowledge) 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procedural attachments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contain functions which can direct the reasoning process (dynamic knowledge) </a:t>
            </a:r>
            <a:br>
              <a:rPr lang="en-US" sz="2000" dirty="0"/>
            </a:br>
            <a:r>
              <a:rPr lang="en-US" sz="2000" dirty="0" smtClean="0"/>
              <a:t> </a:t>
            </a: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400" dirty="0"/>
              <a:t>data-driven, event-driven ( bottom-up reasoning) </a:t>
            </a:r>
          </a:p>
          <a:p>
            <a:pPr>
              <a:lnSpc>
                <a:spcPct val="90000"/>
              </a:lnSpc>
            </a:pPr>
            <a:r>
              <a:rPr lang="en-US" sz="2400" dirty="0" smtClean="0"/>
              <a:t>pointers </a:t>
            </a:r>
            <a:r>
              <a:rPr lang="en-US" sz="2400" dirty="0"/>
              <a:t>to related frames/scripts - can be used to transfer control to a more appropriate frame </a:t>
            </a:r>
          </a:p>
        </p:txBody>
      </p:sp>
      <p:sp>
        <p:nvSpPr>
          <p:cNvPr id="108548" name="Rectangle 4"/>
          <p:cNvSpPr>
            <a:spLocks noChangeArrowheads="1"/>
          </p:cNvSpPr>
          <p:nvPr/>
        </p:nvSpPr>
        <p:spPr bwMode="auto">
          <a:xfrm>
            <a:off x="3179763" y="6553200"/>
            <a:ext cx="13017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latin typeface="Helvetica" charset="0"/>
                <a:hlinkClick r:id="rId2" action="ppaction://hlinksldjump"/>
              </a:rPr>
              <a:t>[Rogers 1999]</a:t>
            </a:r>
            <a:endParaRPr lang="en-US" sz="2800">
              <a:latin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0" y="6525344"/>
            <a:ext cx="9142412" cy="332656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474851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8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8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8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8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085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85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85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85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>
          <a:xfrm>
            <a:off x="247894" y="6425"/>
            <a:ext cx="2327176" cy="804862"/>
          </a:xfrm>
        </p:spPr>
        <p:txBody>
          <a:bodyPr/>
          <a:lstStyle/>
          <a:p>
            <a:r>
              <a:rPr lang="en-US"/>
              <a:t>Slots</a:t>
            </a:r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620688"/>
            <a:ext cx="8839200" cy="4648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 smtClean="0"/>
              <a:t>may </a:t>
            </a:r>
            <a:r>
              <a:rPr lang="en-US" dirty="0"/>
              <a:t>take the following forms: 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values 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default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used if there is not other value present 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range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what kind of information can appear in the slot 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if-added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procedural attachment which specifies an action to be taken when a value in the slot is added or modified (data-driven, event-driven or bottom-up reasoning) 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if-needed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procedural attachment which triggers a procedure which goes out to get information which the slot doesn't have (expectation-driven; top-down reasoning) 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other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may contain frames, rules, semantic networks, or other types of knowledge </a:t>
            </a:r>
          </a:p>
        </p:txBody>
      </p:sp>
      <p:sp>
        <p:nvSpPr>
          <p:cNvPr id="110596" name="Rectangle 4"/>
          <p:cNvSpPr>
            <a:spLocks noChangeArrowheads="1"/>
          </p:cNvSpPr>
          <p:nvPr/>
        </p:nvSpPr>
        <p:spPr bwMode="auto">
          <a:xfrm>
            <a:off x="3179763" y="6553200"/>
            <a:ext cx="13017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latin typeface="Helvetica" charset="0"/>
                <a:hlinkClick r:id="rId2" action="ppaction://hlinksldjump"/>
              </a:rPr>
              <a:t>[Rogers 1999]</a:t>
            </a:r>
            <a:endParaRPr lang="en-US" sz="2800">
              <a:latin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0" y="6525344"/>
            <a:ext cx="9142412" cy="332656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2481971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46009"/>
            <a:ext cx="8424936" cy="857250"/>
          </a:xfrm>
        </p:spPr>
        <p:txBody>
          <a:bodyPr/>
          <a:lstStyle/>
          <a:p>
            <a:pPr rtl="0" eaLnBrk="1" hangingPunct="1"/>
            <a:r>
              <a:rPr lang="en-US" altLang="ar-EG" sz="3200" b="1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</a:rPr>
              <a:t>Object-Attribute-Value Triple</a:t>
            </a:r>
          </a:p>
        </p:txBody>
      </p:sp>
      <p:sp>
        <p:nvSpPr>
          <p:cNvPr id="193539" name="Rectangle 3"/>
          <p:cNvSpPr>
            <a:spLocks noGrp="1" noChangeArrowheads="1"/>
          </p:cNvSpPr>
          <p:nvPr>
            <p:ph idx="1"/>
          </p:nvPr>
        </p:nvSpPr>
        <p:spPr>
          <a:xfrm>
            <a:off x="0" y="1207622"/>
            <a:ext cx="9144000" cy="3223022"/>
          </a:xfrm>
        </p:spPr>
        <p:txBody>
          <a:bodyPr/>
          <a:lstStyle/>
          <a:p>
            <a:pPr algn="l" rtl="0" eaLnBrk="1" hangingPunct="1"/>
            <a:r>
              <a:rPr lang="en-US" altLang="ar-EG" sz="2100" dirty="0">
                <a:latin typeface="Times New Roman" panose="02020603050405020304" pitchFamily="18" charset="0"/>
              </a:rPr>
              <a:t>One problem with semantic nets is lack of standard definitions for link names (IS-A, AKO, etc.).</a:t>
            </a:r>
          </a:p>
          <a:p>
            <a:pPr algn="l" rtl="0" eaLnBrk="1" hangingPunct="1"/>
            <a:r>
              <a:rPr lang="en-US" altLang="ar-EG" sz="2100" dirty="0">
                <a:latin typeface="Times New Roman" panose="02020603050405020304" pitchFamily="18" charset="0"/>
              </a:rPr>
              <a:t>The OAV triplet can be used to characterize all the knowledge in a semantic net.</a:t>
            </a:r>
          </a:p>
        </p:txBody>
      </p:sp>
      <p:sp>
        <p:nvSpPr>
          <p:cNvPr id="193540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7086600" y="5624514"/>
            <a:ext cx="571500" cy="2738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0">
              <a:spcBef>
                <a:spcPct val="0"/>
              </a:spcBef>
              <a:buFontTx/>
              <a:buNone/>
            </a:pPr>
            <a:fld id="{E75D59F7-27F6-4FEA-A592-FB91270C159F}" type="slidenum">
              <a:rPr lang="en-US" altLang="ar-EG" sz="1050"/>
              <a:pPr algn="r" rtl="0">
                <a:spcBef>
                  <a:spcPct val="0"/>
                </a:spcBef>
                <a:buFontTx/>
                <a:buNone/>
              </a:pPr>
              <a:t>15</a:t>
            </a:fld>
            <a:endParaRPr lang="en-US" altLang="ar-EG" sz="1050"/>
          </a:p>
        </p:txBody>
      </p:sp>
      <p:pic>
        <p:nvPicPr>
          <p:cNvPr id="19354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4376" y="2657844"/>
            <a:ext cx="3852080" cy="207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6590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3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3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3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3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7086600" y="5624514"/>
            <a:ext cx="571500" cy="2738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CD347CF-6C95-4230-B2DB-29936A28010E}" type="slidenum">
              <a:rPr lang="en-US" altLang="ar-EG" sz="105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ar-EG" sz="1050"/>
          </a:p>
        </p:txBody>
      </p:sp>
      <p:pic>
        <p:nvPicPr>
          <p:cNvPr id="19558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4" y="404664"/>
            <a:ext cx="8116764" cy="580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7806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>
          <a:xfrm>
            <a:off x="2489833" y="57487"/>
            <a:ext cx="3983360" cy="804862"/>
          </a:xfrm>
        </p:spPr>
        <p:txBody>
          <a:bodyPr/>
          <a:lstStyle/>
          <a:p>
            <a:r>
              <a:rPr lang="en-US" sz="4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Usage of Frames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913" y="890205"/>
            <a:ext cx="8839200" cy="46482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filling slots in frames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can inherit the value directly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can get a default value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these two are relatively inexpensive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can derive information through the attached procedures (or methods) that also take advantage of current context (slot-specific heuristics)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filling in slots also confirms that frame or script is appropriate for this particular situation </a:t>
            </a:r>
          </a:p>
        </p:txBody>
      </p:sp>
      <p:sp>
        <p:nvSpPr>
          <p:cNvPr id="111620" name="Rectangle 4"/>
          <p:cNvSpPr>
            <a:spLocks noChangeArrowheads="1"/>
          </p:cNvSpPr>
          <p:nvPr/>
        </p:nvSpPr>
        <p:spPr bwMode="auto">
          <a:xfrm>
            <a:off x="3179763" y="6553200"/>
            <a:ext cx="13017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latin typeface="Helvetica" charset="0"/>
                <a:hlinkClick r:id="rId2" action="ppaction://hlinksldjump"/>
              </a:rPr>
              <a:t>[Rogers 1999]</a:t>
            </a:r>
            <a:endParaRPr lang="en-US" sz="2800">
              <a:latin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0" y="6525344"/>
            <a:ext cx="9142412" cy="332656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1172449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1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1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1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1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1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1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11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11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116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buFont typeface="Monotype Sorts" charset="2"/>
              <a:buNone/>
            </a:pPr>
            <a:r>
              <a:rPr lang="en-US" dirty="0" smtClean="0"/>
              <a:t>Schema</a:t>
            </a:r>
            <a:endParaRPr lang="en-US" dirty="0"/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charset="2"/>
              <a:buChar char="u"/>
            </a:pPr>
            <a:r>
              <a:rPr lang="en-US" dirty="0"/>
              <a:t>suitable for the representation of more complex knowledge</a:t>
            </a:r>
          </a:p>
          <a:p>
            <a:pPr lvl="1">
              <a:buFont typeface="Monotype Sorts" charset="2"/>
              <a:buChar char="u"/>
            </a:pPr>
            <a:r>
              <a:rPr lang="en-US" dirty="0"/>
              <a:t>causal relationships between a percept or action and its outcome</a:t>
            </a:r>
          </a:p>
          <a:p>
            <a:pPr lvl="1">
              <a:buFont typeface="Monotype Sorts" charset="2"/>
              <a:buChar char="u"/>
            </a:pPr>
            <a:r>
              <a:rPr lang="en-US" dirty="0"/>
              <a:t>“deeper” knowledge than semantic networks</a:t>
            </a:r>
          </a:p>
          <a:p>
            <a:pPr lvl="2">
              <a:buFont typeface="Monotype Sorts" charset="2"/>
              <a:buChar char="u"/>
            </a:pPr>
            <a:r>
              <a:rPr lang="en-US" dirty="0"/>
              <a:t>nodes can have an internal structure</a:t>
            </a:r>
          </a:p>
          <a:p>
            <a:pPr lvl="1">
              <a:buFont typeface="Monotype Sorts" charset="2"/>
              <a:buChar char="u"/>
            </a:pPr>
            <a:r>
              <a:rPr lang="en-US" dirty="0"/>
              <a:t>for humans often tacit knowledge</a:t>
            </a:r>
          </a:p>
          <a:p>
            <a:pPr>
              <a:buFont typeface="Monotype Sorts" charset="2"/>
              <a:buChar char="u"/>
            </a:pPr>
            <a:r>
              <a:rPr lang="en-US" dirty="0"/>
              <a:t>related to the notion of </a:t>
            </a:r>
            <a:r>
              <a:rPr lang="en-US" i="1" dirty="0"/>
              <a:t>records</a:t>
            </a:r>
            <a:r>
              <a:rPr lang="en-US" dirty="0"/>
              <a:t> in  computer science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0" y="6525344"/>
            <a:ext cx="9142412" cy="332656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2612453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304800"/>
            <a:ext cx="7620000" cy="1143000"/>
          </a:xfrm>
        </p:spPr>
        <p:txBody>
          <a:bodyPr/>
          <a:lstStyle/>
          <a:p>
            <a:pPr eaLnBrk="1" hangingPunct="1"/>
            <a:r>
              <a:rPr lang="en-US" b="1" dirty="0" smtClean="0">
                <a:latin typeface="Times New Roman" pitchFamily="18" charset="0"/>
              </a:rPr>
              <a:t>Schema</a:t>
            </a:r>
          </a:p>
        </p:txBody>
      </p:sp>
      <p:sp>
        <p:nvSpPr>
          <p:cNvPr id="348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28800"/>
            <a:ext cx="8229600" cy="4297363"/>
          </a:xfrm>
        </p:spPr>
        <p:txBody>
          <a:bodyPr/>
          <a:lstStyle/>
          <a:p>
            <a:pPr eaLnBrk="1" hangingPunct="1"/>
            <a:r>
              <a:rPr lang="en-US" sz="2800" dirty="0" smtClean="0">
                <a:solidFill>
                  <a:schemeClr val="tx1">
                    <a:lumMod val="75000"/>
                  </a:schemeClr>
                </a:solidFill>
                <a:latin typeface="Times New Roman" pitchFamily="18" charset="0"/>
              </a:rPr>
              <a:t>Knowledge Structure </a:t>
            </a:r>
            <a:r>
              <a:rPr lang="en-US" sz="2800" dirty="0" smtClean="0">
                <a:latin typeface="Times New Roman" pitchFamily="18" charset="0"/>
              </a:rPr>
              <a:t>– an  ordered collection of knowledge – not just data.</a:t>
            </a:r>
          </a:p>
          <a:p>
            <a:pPr eaLnBrk="1" hangingPunct="1"/>
            <a:r>
              <a:rPr lang="en-US" sz="2800" b="1" dirty="0" smtClean="0">
                <a:solidFill>
                  <a:schemeClr val="tx1">
                    <a:lumMod val="75000"/>
                  </a:schemeClr>
                </a:solidFill>
                <a:latin typeface="Times New Roman" pitchFamily="18" charset="0"/>
              </a:rPr>
              <a:t>Semantic Nets </a:t>
            </a:r>
            <a:r>
              <a:rPr lang="en-US" sz="2800" dirty="0" smtClean="0">
                <a:latin typeface="Times New Roman" pitchFamily="18" charset="0"/>
              </a:rPr>
              <a:t>– are shallow knowledge structures – all knowledge is contained in nodes and links.</a:t>
            </a:r>
          </a:p>
          <a:p>
            <a:pPr eaLnBrk="1" hangingPunct="1"/>
            <a:r>
              <a:rPr lang="en-US" sz="2800" b="1" dirty="0" smtClean="0">
                <a:solidFill>
                  <a:schemeClr val="tx1">
                    <a:lumMod val="75000"/>
                  </a:schemeClr>
                </a:solidFill>
                <a:latin typeface="Times New Roman" pitchFamily="18" charset="0"/>
              </a:rPr>
              <a:t>Schema</a:t>
            </a:r>
            <a:r>
              <a:rPr lang="en-US" sz="2800" dirty="0" smtClean="0">
                <a:latin typeface="Times New Roman" pitchFamily="18" charset="0"/>
              </a:rPr>
              <a:t> is a more complex knowledge structure than a semantic net.</a:t>
            </a:r>
          </a:p>
          <a:p>
            <a:pPr eaLnBrk="1" hangingPunct="1"/>
            <a:r>
              <a:rPr lang="en-US" sz="2800" dirty="0" smtClean="0">
                <a:latin typeface="Times New Roman" pitchFamily="18" charset="0"/>
              </a:rPr>
              <a:t>In a schema, a node is like a record which may contain data, records, and/or pointers to nodes.</a:t>
            </a:r>
          </a:p>
        </p:txBody>
      </p:sp>
      <p:sp>
        <p:nvSpPr>
          <p:cNvPr id="34823" name="Line 5"/>
          <p:cNvSpPr>
            <a:spLocks noChangeShapeType="1"/>
          </p:cNvSpPr>
          <p:nvPr/>
        </p:nvSpPr>
        <p:spPr bwMode="auto">
          <a:xfrm>
            <a:off x="457200" y="1585913"/>
            <a:ext cx="82264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ar-EG"/>
          </a:p>
        </p:txBody>
      </p:sp>
      <p:sp>
        <p:nvSpPr>
          <p:cNvPr id="5" name="Rectangle 4"/>
          <p:cNvSpPr/>
          <p:nvPr/>
        </p:nvSpPr>
        <p:spPr bwMode="auto">
          <a:xfrm>
            <a:off x="0" y="6525344"/>
            <a:ext cx="9142412" cy="332656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879553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2357422" y="338138"/>
            <a:ext cx="4357718" cy="804862"/>
          </a:xfrm>
          <a:prstGeom prst="rect">
            <a:avLst/>
          </a:prstGeom>
          <a:solidFill>
            <a:schemeClr val="accent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Times"/>
            </a:endParaRPr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2357422" y="338138"/>
            <a:ext cx="5072098" cy="804862"/>
          </a:xfrm>
          <a:solidFill>
            <a:schemeClr val="bg2">
              <a:lumMod val="10000"/>
              <a:lumOff val="9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>
              <a:buFont typeface="Monotype Sorts" charset="2"/>
              <a:buNone/>
            </a:pPr>
            <a:r>
              <a:rPr lang="en-US" dirty="0">
                <a:solidFill>
                  <a:schemeClr val="bg2"/>
                </a:solidFill>
              </a:rPr>
              <a:t>Concept Schema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Monotype Sorts" charset="2"/>
              <a:buChar char="u"/>
            </a:pPr>
            <a:r>
              <a:rPr lang="en-US"/>
              <a:t>abstraction that captures general/typical properties of objects</a:t>
            </a:r>
          </a:p>
          <a:p>
            <a:pPr lvl="1">
              <a:lnSpc>
                <a:spcPct val="90000"/>
              </a:lnSpc>
              <a:buFont typeface="Monotype Sorts" charset="2"/>
              <a:buChar char="u"/>
            </a:pPr>
            <a:r>
              <a:rPr lang="en-US"/>
              <a:t>has the most important properties that one usually associates with an object of that type</a:t>
            </a:r>
          </a:p>
          <a:p>
            <a:pPr lvl="2">
              <a:lnSpc>
                <a:spcPct val="90000"/>
              </a:lnSpc>
              <a:buFont typeface="Monotype Sorts" charset="2"/>
              <a:buChar char="u"/>
            </a:pPr>
            <a:r>
              <a:rPr lang="en-US"/>
              <a:t>may be dependent on task, context, background and capabilities of the user, …</a:t>
            </a:r>
          </a:p>
          <a:p>
            <a:pPr lvl="1">
              <a:lnSpc>
                <a:spcPct val="90000"/>
              </a:lnSpc>
              <a:buFont typeface="Monotype Sorts" charset="2"/>
              <a:buChar char="u"/>
            </a:pPr>
            <a:r>
              <a:rPr lang="en-US"/>
              <a:t>similar to stereotypes</a:t>
            </a:r>
          </a:p>
          <a:p>
            <a:pPr>
              <a:lnSpc>
                <a:spcPct val="90000"/>
              </a:lnSpc>
              <a:buFont typeface="Monotype Sorts" charset="2"/>
              <a:buChar char="u"/>
            </a:pPr>
            <a:r>
              <a:rPr lang="en-US"/>
              <a:t>makes reasoning simpler by concentrating on the essential aspects</a:t>
            </a:r>
          </a:p>
          <a:p>
            <a:pPr>
              <a:lnSpc>
                <a:spcPct val="90000"/>
              </a:lnSpc>
              <a:buFont typeface="Monotype Sorts" charset="2"/>
              <a:buChar char="u"/>
            </a:pPr>
            <a:r>
              <a:rPr lang="en-US"/>
              <a:t>may still require relationship-specific inference methods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0" y="6525344"/>
            <a:ext cx="9142412" cy="332656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3439494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Schema Examples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most frequently used instances of schemata are</a:t>
            </a:r>
          </a:p>
          <a:p>
            <a:pPr lvl="1"/>
            <a:r>
              <a:rPr lang="en-US"/>
              <a:t>frames [Minsky 1975]</a:t>
            </a:r>
          </a:p>
          <a:p>
            <a:pPr lvl="1"/>
            <a:r>
              <a:rPr lang="en-US"/>
              <a:t>scripts [Schank 1977]</a:t>
            </a:r>
          </a:p>
          <a:p>
            <a:r>
              <a:rPr lang="en-US"/>
              <a:t>frames consist of a group of slots and fillers to define a stereotypical objects</a:t>
            </a:r>
          </a:p>
          <a:p>
            <a:r>
              <a:rPr lang="en-US"/>
              <a:t>scripts are time-ordered sequences of frames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0" y="6525344"/>
            <a:ext cx="9142412" cy="332656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838735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Restaurant Frame Example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generic template for restaurants</a:t>
            </a:r>
          </a:p>
          <a:p>
            <a:pPr lvl="1"/>
            <a:r>
              <a:rPr lang="en-US"/>
              <a:t>different types</a:t>
            </a:r>
          </a:p>
          <a:p>
            <a:pPr lvl="1"/>
            <a:r>
              <a:rPr lang="en-US"/>
              <a:t>default values</a:t>
            </a:r>
          </a:p>
          <a:p>
            <a:r>
              <a:rPr lang="en-US"/>
              <a:t>script for a typical sequence of activities at a restaurant</a:t>
            </a:r>
          </a:p>
        </p:txBody>
      </p:sp>
      <p:sp>
        <p:nvSpPr>
          <p:cNvPr id="105476" name="Rectangle 4"/>
          <p:cNvSpPr>
            <a:spLocks noChangeArrowheads="1"/>
          </p:cNvSpPr>
          <p:nvPr/>
        </p:nvSpPr>
        <p:spPr bwMode="auto">
          <a:xfrm>
            <a:off x="3179763" y="6553200"/>
            <a:ext cx="13017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latin typeface="Helvetica" charset="0"/>
                <a:hlinkClick r:id="rId2" action="ppaction://hlinksldjump"/>
              </a:rPr>
              <a:t>[Rogers 1999]</a:t>
            </a:r>
            <a:endParaRPr lang="en-US" sz="2800">
              <a:latin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0" y="6525344"/>
            <a:ext cx="9142412" cy="332656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2783641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Restaurant Frame</a:t>
            </a:r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858000"/>
          </a:xfrm>
          <a:solidFill>
            <a:schemeClr val="bg2">
              <a:lumMod val="10000"/>
              <a:lumOff val="90000"/>
            </a:schemeClr>
          </a:solidFill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400" b="1" dirty="0">
                <a:solidFill>
                  <a:schemeClr val="bg2"/>
                </a:solidFill>
                <a:latin typeface="Lucida Grande" charset="0"/>
              </a:rPr>
              <a:t>Generic RESTAURANT Fram</a:t>
            </a:r>
            <a:r>
              <a:rPr lang="en-US" sz="1400" dirty="0">
                <a:solidFill>
                  <a:schemeClr val="bg2"/>
                </a:solidFill>
                <a:latin typeface="Lucida Grande" charset="0"/>
              </a:rPr>
              <a:t>e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1400" dirty="0">
              <a:solidFill>
                <a:schemeClr val="bg2"/>
              </a:solidFill>
              <a:latin typeface="Lucida Grande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400" b="1" dirty="0">
                <a:solidFill>
                  <a:schemeClr val="bg2"/>
                </a:solidFill>
                <a:latin typeface="Lucida Grande" charset="0"/>
              </a:rPr>
              <a:t>Specialization-o</a:t>
            </a:r>
            <a:r>
              <a:rPr lang="en-US" sz="1400" dirty="0">
                <a:solidFill>
                  <a:schemeClr val="bg2"/>
                </a:solidFill>
                <a:latin typeface="Lucida Grande" charset="0"/>
              </a:rPr>
              <a:t>f:  Business-Establishment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400" b="1" dirty="0">
                <a:solidFill>
                  <a:schemeClr val="bg2"/>
                </a:solidFill>
                <a:latin typeface="Lucida Grande" charset="0"/>
              </a:rPr>
              <a:t>Types</a:t>
            </a:r>
            <a:r>
              <a:rPr lang="en-US" sz="1400" dirty="0">
                <a:solidFill>
                  <a:schemeClr val="bg2"/>
                </a:solidFill>
                <a:latin typeface="Lucida Grande" charset="0"/>
              </a:rPr>
              <a:t>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>
                <a:solidFill>
                  <a:schemeClr val="bg2"/>
                </a:solidFill>
                <a:latin typeface="Lucida Grande" charset="0"/>
              </a:rPr>
              <a:t>       </a:t>
            </a:r>
            <a:r>
              <a:rPr lang="en-US" sz="1400" b="1" dirty="0">
                <a:solidFill>
                  <a:schemeClr val="bg2"/>
                </a:solidFill>
                <a:latin typeface="Lucida Grande" charset="0"/>
              </a:rPr>
              <a:t>range</a:t>
            </a:r>
            <a:r>
              <a:rPr lang="en-US" sz="1400" dirty="0">
                <a:solidFill>
                  <a:schemeClr val="bg2"/>
                </a:solidFill>
                <a:latin typeface="Lucida Grande" charset="0"/>
              </a:rPr>
              <a:t>:       (Cafeteria, Fast-Food, Seat-Yourself, Wait-To-Be-Seated)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>
                <a:solidFill>
                  <a:schemeClr val="bg2"/>
                </a:solidFill>
                <a:latin typeface="Lucida Grande" charset="0"/>
              </a:rPr>
              <a:t>       </a:t>
            </a:r>
            <a:r>
              <a:rPr lang="en-US" sz="1400" b="1" dirty="0">
                <a:solidFill>
                  <a:schemeClr val="bg2"/>
                </a:solidFill>
                <a:latin typeface="Lucida Grande" charset="0"/>
              </a:rPr>
              <a:t>default</a:t>
            </a:r>
            <a:r>
              <a:rPr lang="en-US" sz="1400" dirty="0">
                <a:solidFill>
                  <a:schemeClr val="bg2"/>
                </a:solidFill>
                <a:latin typeface="Lucida Grande" charset="0"/>
              </a:rPr>
              <a:t>:     Seat-Yourself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>
                <a:solidFill>
                  <a:schemeClr val="bg2"/>
                </a:solidFill>
                <a:latin typeface="Lucida Grande" charset="0"/>
              </a:rPr>
              <a:t>       </a:t>
            </a:r>
            <a:r>
              <a:rPr lang="en-US" sz="1400" b="1" dirty="0">
                <a:solidFill>
                  <a:schemeClr val="bg2"/>
                </a:solidFill>
                <a:latin typeface="Lucida Grande" charset="0"/>
              </a:rPr>
              <a:t>if-needed</a:t>
            </a:r>
            <a:r>
              <a:rPr lang="en-US" sz="1400" dirty="0">
                <a:solidFill>
                  <a:schemeClr val="bg2"/>
                </a:solidFill>
                <a:latin typeface="Lucida Grande" charset="0"/>
              </a:rPr>
              <a:t>:   IF plastic-orange-counter THEN Fast-Food,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>
                <a:solidFill>
                  <a:schemeClr val="bg2"/>
                </a:solidFill>
                <a:latin typeface="Lucida Grande" charset="0"/>
              </a:rPr>
              <a:t>                          IF stack-of-trays THEN Cafeteria,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>
                <a:solidFill>
                  <a:schemeClr val="bg2"/>
                </a:solidFill>
                <a:latin typeface="Lucida Grande" charset="0"/>
              </a:rPr>
              <a:t>                          IF wait-for-waitress-sign or reservations-made THEN Wait-To-Be-Seated,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>
                <a:solidFill>
                  <a:schemeClr val="bg2"/>
                </a:solidFill>
                <a:latin typeface="Lucida Grande" charset="0"/>
              </a:rPr>
              <a:t>                               OTHERWISE Seat-Yourself.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400" b="1" dirty="0">
                <a:solidFill>
                  <a:schemeClr val="bg2"/>
                </a:solidFill>
                <a:latin typeface="Lucida Grande" charset="0"/>
              </a:rPr>
              <a:t>Location</a:t>
            </a:r>
            <a:r>
              <a:rPr lang="en-US" sz="1400" dirty="0">
                <a:solidFill>
                  <a:schemeClr val="bg2"/>
                </a:solidFill>
                <a:latin typeface="Lucida Grande" charset="0"/>
              </a:rPr>
              <a:t>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>
                <a:solidFill>
                  <a:schemeClr val="bg2"/>
                </a:solidFill>
                <a:latin typeface="Lucida Grande" charset="0"/>
              </a:rPr>
              <a:t>       </a:t>
            </a:r>
            <a:r>
              <a:rPr lang="en-US" sz="1400" b="1" dirty="0">
                <a:solidFill>
                  <a:schemeClr val="bg2"/>
                </a:solidFill>
                <a:latin typeface="Lucida Grande" charset="0"/>
              </a:rPr>
              <a:t>range</a:t>
            </a:r>
            <a:r>
              <a:rPr lang="en-US" sz="1400" dirty="0">
                <a:solidFill>
                  <a:schemeClr val="bg2"/>
                </a:solidFill>
                <a:latin typeface="Lucida Grande" charset="0"/>
              </a:rPr>
              <a:t>:          an ADDRESS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>
                <a:solidFill>
                  <a:schemeClr val="bg2"/>
                </a:solidFill>
                <a:latin typeface="Lucida Grande" charset="0"/>
              </a:rPr>
              <a:t>       </a:t>
            </a:r>
            <a:r>
              <a:rPr lang="en-US" sz="1400" b="1" dirty="0">
                <a:solidFill>
                  <a:schemeClr val="bg2"/>
                </a:solidFill>
                <a:latin typeface="Lucida Grande" charset="0"/>
              </a:rPr>
              <a:t>if-needed</a:t>
            </a:r>
            <a:r>
              <a:rPr lang="en-US" sz="1400" dirty="0">
                <a:solidFill>
                  <a:schemeClr val="bg2"/>
                </a:solidFill>
                <a:latin typeface="Lucida Grande" charset="0"/>
              </a:rPr>
              <a:t>:   (Look at the MENU)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400" b="1" dirty="0">
                <a:solidFill>
                  <a:schemeClr val="bg2"/>
                </a:solidFill>
                <a:latin typeface="Lucida Grande" charset="0"/>
              </a:rPr>
              <a:t>Name</a:t>
            </a:r>
            <a:r>
              <a:rPr lang="en-US" sz="1400" dirty="0">
                <a:solidFill>
                  <a:schemeClr val="bg2"/>
                </a:solidFill>
                <a:latin typeface="Lucida Grande" charset="0"/>
              </a:rPr>
              <a:t>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>
                <a:solidFill>
                  <a:schemeClr val="bg2"/>
                </a:solidFill>
                <a:latin typeface="Lucida Grande" charset="0"/>
              </a:rPr>
              <a:t>      </a:t>
            </a:r>
            <a:r>
              <a:rPr lang="en-US" sz="1400" b="1" dirty="0">
                <a:solidFill>
                  <a:schemeClr val="bg2"/>
                </a:solidFill>
                <a:latin typeface="Lucida Grande" charset="0"/>
              </a:rPr>
              <a:t> if-needed</a:t>
            </a:r>
            <a:r>
              <a:rPr lang="en-US" sz="1400" dirty="0">
                <a:solidFill>
                  <a:schemeClr val="bg2"/>
                </a:solidFill>
                <a:latin typeface="Lucida Grande" charset="0"/>
              </a:rPr>
              <a:t>:   (Look at the MENU)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400" b="1" dirty="0">
                <a:solidFill>
                  <a:schemeClr val="bg2"/>
                </a:solidFill>
                <a:latin typeface="Lucida Grande" charset="0"/>
              </a:rPr>
              <a:t>Food-Style</a:t>
            </a:r>
            <a:r>
              <a:rPr lang="en-US" sz="1400" dirty="0">
                <a:solidFill>
                  <a:schemeClr val="bg2"/>
                </a:solidFill>
                <a:latin typeface="Lucida Grande" charset="0"/>
              </a:rPr>
              <a:t>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>
                <a:solidFill>
                  <a:schemeClr val="bg2"/>
                </a:solidFill>
                <a:latin typeface="Lucida Grande" charset="0"/>
              </a:rPr>
              <a:t>       </a:t>
            </a:r>
            <a:r>
              <a:rPr lang="en-US" sz="1400" b="1" dirty="0">
                <a:solidFill>
                  <a:schemeClr val="bg2"/>
                </a:solidFill>
                <a:latin typeface="Lucida Grande" charset="0"/>
              </a:rPr>
              <a:t>range</a:t>
            </a:r>
            <a:r>
              <a:rPr lang="en-US" sz="1400" dirty="0">
                <a:solidFill>
                  <a:schemeClr val="bg2"/>
                </a:solidFill>
                <a:latin typeface="Lucida Grande" charset="0"/>
              </a:rPr>
              <a:t>:         (Burgers, Chinese, American, Seafood, French)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>
                <a:solidFill>
                  <a:schemeClr val="bg2"/>
                </a:solidFill>
                <a:latin typeface="Lucida Grande" charset="0"/>
              </a:rPr>
              <a:t>       </a:t>
            </a:r>
            <a:r>
              <a:rPr lang="en-US" sz="1400" b="1" dirty="0">
                <a:solidFill>
                  <a:schemeClr val="bg2"/>
                </a:solidFill>
                <a:latin typeface="Lucida Grande" charset="0"/>
              </a:rPr>
              <a:t>default</a:t>
            </a:r>
            <a:r>
              <a:rPr lang="en-US" sz="1400" dirty="0">
                <a:solidFill>
                  <a:schemeClr val="bg2"/>
                </a:solidFill>
                <a:latin typeface="Lucida Grande" charset="0"/>
              </a:rPr>
              <a:t>:       American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>
                <a:solidFill>
                  <a:schemeClr val="bg2"/>
                </a:solidFill>
                <a:latin typeface="Lucida Grande" charset="0"/>
              </a:rPr>
              <a:t>       </a:t>
            </a:r>
            <a:r>
              <a:rPr lang="en-US" sz="1400" b="1" dirty="0">
                <a:solidFill>
                  <a:schemeClr val="bg2"/>
                </a:solidFill>
                <a:latin typeface="Lucida Grande" charset="0"/>
              </a:rPr>
              <a:t>if-added</a:t>
            </a:r>
            <a:r>
              <a:rPr lang="en-US" sz="1400" dirty="0">
                <a:solidFill>
                  <a:schemeClr val="bg2"/>
                </a:solidFill>
                <a:latin typeface="Lucida Grande" charset="0"/>
              </a:rPr>
              <a:t>:    (Update Alternatives of Restaurant)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400" b="1" dirty="0">
                <a:solidFill>
                  <a:schemeClr val="bg2"/>
                </a:solidFill>
                <a:latin typeface="Lucida Grande" charset="0"/>
              </a:rPr>
              <a:t>Times-of-Operation</a:t>
            </a:r>
            <a:r>
              <a:rPr lang="en-US" sz="1400" dirty="0">
                <a:solidFill>
                  <a:schemeClr val="bg2"/>
                </a:solidFill>
                <a:latin typeface="Lucida Grande" charset="0"/>
              </a:rPr>
              <a:t>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>
                <a:solidFill>
                  <a:schemeClr val="bg2"/>
                </a:solidFill>
                <a:latin typeface="Lucida Grande" charset="0"/>
              </a:rPr>
              <a:t>       </a:t>
            </a:r>
            <a:r>
              <a:rPr lang="en-US" sz="1400" b="1" dirty="0">
                <a:solidFill>
                  <a:schemeClr val="bg2"/>
                </a:solidFill>
                <a:latin typeface="Lucida Grande" charset="0"/>
              </a:rPr>
              <a:t>range</a:t>
            </a:r>
            <a:r>
              <a:rPr lang="en-US" sz="1400" dirty="0">
                <a:solidFill>
                  <a:schemeClr val="bg2"/>
                </a:solidFill>
                <a:latin typeface="Lucida Grande" charset="0"/>
              </a:rPr>
              <a:t>:         a Time-of-Day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>
                <a:solidFill>
                  <a:schemeClr val="bg2"/>
                </a:solidFill>
                <a:latin typeface="Lucida Grande" charset="0"/>
              </a:rPr>
              <a:t>       </a:t>
            </a:r>
            <a:r>
              <a:rPr lang="en-US" sz="1400" b="1" dirty="0">
                <a:solidFill>
                  <a:schemeClr val="bg2"/>
                </a:solidFill>
                <a:latin typeface="Lucida Grande" charset="0"/>
              </a:rPr>
              <a:t>default</a:t>
            </a:r>
            <a:r>
              <a:rPr lang="en-US" sz="1400" dirty="0">
                <a:solidFill>
                  <a:schemeClr val="bg2"/>
                </a:solidFill>
                <a:latin typeface="Lucida Grande" charset="0"/>
              </a:rPr>
              <a:t>:       open evenings except Mondays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400" b="1" dirty="0">
                <a:solidFill>
                  <a:schemeClr val="bg2"/>
                </a:solidFill>
                <a:latin typeface="Lucida Grande" charset="0"/>
              </a:rPr>
              <a:t>Payment-Form</a:t>
            </a:r>
            <a:r>
              <a:rPr lang="en-US" sz="1400" dirty="0">
                <a:solidFill>
                  <a:schemeClr val="bg2"/>
                </a:solidFill>
                <a:latin typeface="Lucida Grande" charset="0"/>
              </a:rPr>
              <a:t>: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>
                <a:solidFill>
                  <a:schemeClr val="bg2"/>
                </a:solidFill>
                <a:latin typeface="Lucida Grande" charset="0"/>
              </a:rPr>
              <a:t>       </a:t>
            </a:r>
            <a:r>
              <a:rPr lang="en-US" sz="1400" b="1" dirty="0">
                <a:solidFill>
                  <a:schemeClr val="bg2"/>
                </a:solidFill>
                <a:latin typeface="Lucida Grande" charset="0"/>
              </a:rPr>
              <a:t>range</a:t>
            </a:r>
            <a:r>
              <a:rPr lang="en-US" sz="1400" dirty="0">
                <a:solidFill>
                  <a:schemeClr val="bg2"/>
                </a:solidFill>
                <a:latin typeface="Lucida Grande" charset="0"/>
              </a:rPr>
              <a:t>:         (Cash, </a:t>
            </a:r>
            <a:r>
              <a:rPr lang="en-US" sz="1400" dirty="0" err="1">
                <a:solidFill>
                  <a:schemeClr val="bg2"/>
                </a:solidFill>
                <a:latin typeface="Lucida Grande" charset="0"/>
              </a:rPr>
              <a:t>CreditCard</a:t>
            </a:r>
            <a:r>
              <a:rPr lang="en-US" sz="1400" dirty="0">
                <a:solidFill>
                  <a:schemeClr val="bg2"/>
                </a:solidFill>
                <a:latin typeface="Lucida Grande" charset="0"/>
              </a:rPr>
              <a:t>, Check, Washing-Dishes-Script)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400" b="1" dirty="0">
                <a:solidFill>
                  <a:schemeClr val="bg2"/>
                </a:solidFill>
                <a:latin typeface="Lucida Grande" charset="0"/>
              </a:rPr>
              <a:t>Event-Sequence</a:t>
            </a:r>
            <a:r>
              <a:rPr lang="en-US" sz="1400" dirty="0">
                <a:solidFill>
                  <a:schemeClr val="bg2"/>
                </a:solidFill>
                <a:latin typeface="Lucida Grande" charset="0"/>
              </a:rPr>
              <a:t>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>
                <a:solidFill>
                  <a:schemeClr val="bg2"/>
                </a:solidFill>
                <a:latin typeface="Lucida Grande" charset="0"/>
              </a:rPr>
              <a:t>       </a:t>
            </a:r>
            <a:r>
              <a:rPr lang="en-US" sz="1400" b="1" dirty="0">
                <a:solidFill>
                  <a:schemeClr val="bg2"/>
                </a:solidFill>
                <a:latin typeface="Lucida Grande" charset="0"/>
              </a:rPr>
              <a:t>default</a:t>
            </a:r>
            <a:r>
              <a:rPr lang="en-US" sz="1400" dirty="0">
                <a:solidFill>
                  <a:schemeClr val="bg2"/>
                </a:solidFill>
                <a:latin typeface="Lucida Grande" charset="0"/>
              </a:rPr>
              <a:t>:       Eat-at-Restaurant Script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400" b="1" dirty="0">
                <a:solidFill>
                  <a:schemeClr val="bg2"/>
                </a:solidFill>
                <a:latin typeface="Lucida Grande" charset="0"/>
              </a:rPr>
              <a:t>Alternatives</a:t>
            </a:r>
            <a:r>
              <a:rPr lang="en-US" sz="1400" dirty="0">
                <a:solidFill>
                  <a:schemeClr val="bg2"/>
                </a:solidFill>
                <a:latin typeface="Lucida Grande" charset="0"/>
              </a:rPr>
              <a:t>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>
                <a:solidFill>
                  <a:schemeClr val="bg2"/>
                </a:solidFill>
                <a:latin typeface="Lucida Grande" charset="0"/>
              </a:rPr>
              <a:t>       </a:t>
            </a:r>
            <a:r>
              <a:rPr lang="en-US" sz="1400" b="1" dirty="0">
                <a:solidFill>
                  <a:schemeClr val="bg2"/>
                </a:solidFill>
                <a:latin typeface="Lucida Grande" charset="0"/>
              </a:rPr>
              <a:t>range</a:t>
            </a:r>
            <a:r>
              <a:rPr lang="en-US" sz="1400" dirty="0">
                <a:solidFill>
                  <a:schemeClr val="bg2"/>
                </a:solidFill>
                <a:latin typeface="Lucida Grande" charset="0"/>
              </a:rPr>
              <a:t>:         all restaurants with same </a:t>
            </a:r>
            <a:r>
              <a:rPr lang="en-US" sz="1400" dirty="0" err="1">
                <a:solidFill>
                  <a:schemeClr val="bg2"/>
                </a:solidFill>
                <a:latin typeface="Lucida Grande" charset="0"/>
              </a:rPr>
              <a:t>Foodstyle</a:t>
            </a:r>
            <a:endParaRPr lang="en-US" sz="1400" dirty="0">
              <a:solidFill>
                <a:schemeClr val="bg2"/>
              </a:solidFill>
              <a:latin typeface="Lucida Grande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400" dirty="0">
                <a:solidFill>
                  <a:schemeClr val="bg2"/>
                </a:solidFill>
                <a:latin typeface="Lucida Grande" charset="0"/>
              </a:rPr>
              <a:t>       </a:t>
            </a:r>
            <a:r>
              <a:rPr lang="en-US" sz="1400" b="1" dirty="0">
                <a:solidFill>
                  <a:schemeClr val="bg2"/>
                </a:solidFill>
                <a:latin typeface="Lucida Grande" charset="0"/>
              </a:rPr>
              <a:t>if-needed</a:t>
            </a:r>
            <a:r>
              <a:rPr lang="en-US" sz="1400" dirty="0">
                <a:solidFill>
                  <a:schemeClr val="bg2"/>
                </a:solidFill>
                <a:latin typeface="Lucida Grande" charset="0"/>
              </a:rPr>
              <a:t>:  (Find all Restaurants with the same </a:t>
            </a:r>
            <a:r>
              <a:rPr lang="en-US" sz="1400" dirty="0" err="1">
                <a:solidFill>
                  <a:schemeClr val="bg2"/>
                </a:solidFill>
                <a:latin typeface="Lucida Grande" charset="0"/>
              </a:rPr>
              <a:t>Foodstyle</a:t>
            </a:r>
            <a:r>
              <a:rPr lang="en-US" sz="1400" dirty="0">
                <a:solidFill>
                  <a:schemeClr val="bg2"/>
                </a:solidFill>
                <a:latin typeface="Lucida Grande" charset="0"/>
              </a:rPr>
              <a:t>)</a:t>
            </a:r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152580" name="Rectangle 4"/>
          <p:cNvSpPr>
            <a:spLocks noChangeArrowheads="1"/>
          </p:cNvSpPr>
          <p:nvPr/>
        </p:nvSpPr>
        <p:spPr bwMode="auto">
          <a:xfrm>
            <a:off x="6242050" y="6553200"/>
            <a:ext cx="13017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latin typeface="Helvetica" charset="0"/>
                <a:hlinkClick r:id="rId2" action="ppaction://hlinksldjump"/>
              </a:rPr>
              <a:t>[Rogers 1999]</a:t>
            </a:r>
            <a:endParaRPr lang="en-US" sz="280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7905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Restaurant Script</a:t>
            </a:r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43000"/>
            <a:ext cx="8839200" cy="5334000"/>
          </a:xfrm>
          <a:solidFill>
            <a:schemeClr val="bg2">
              <a:lumMod val="10000"/>
              <a:lumOff val="90000"/>
            </a:schemeClr>
          </a:solidFill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1600" b="1" dirty="0">
                <a:solidFill>
                  <a:srgbClr val="000000"/>
                </a:solidFill>
                <a:latin typeface="Lucida Grande" charset="0"/>
              </a:rPr>
              <a:t>EAT-AT-RESTAURANT Script</a:t>
            </a:r>
          </a:p>
          <a:p>
            <a:pPr>
              <a:buFont typeface="Wingdings" pitchFamily="2" charset="2"/>
              <a:buNone/>
            </a:pPr>
            <a:endParaRPr lang="en-US" sz="1600" dirty="0">
              <a:solidFill>
                <a:srgbClr val="000000"/>
              </a:solidFill>
              <a:latin typeface="Lucida Grande" charset="0"/>
            </a:endParaRPr>
          </a:p>
          <a:p>
            <a:pPr>
              <a:buFont typeface="Wingdings" pitchFamily="2" charset="2"/>
              <a:buNone/>
            </a:pPr>
            <a:r>
              <a:rPr lang="en-US" sz="1600" b="1" dirty="0">
                <a:solidFill>
                  <a:srgbClr val="000000"/>
                </a:solidFill>
                <a:latin typeface="Lucida Grande" charset="0"/>
              </a:rPr>
              <a:t>Props</a:t>
            </a:r>
            <a:r>
              <a:rPr lang="en-US" sz="1600" dirty="0">
                <a:solidFill>
                  <a:srgbClr val="000000"/>
                </a:solidFill>
                <a:latin typeface="Lucida Grande" charset="0"/>
              </a:rPr>
              <a:t>:                           (Restaurant, Money, Food, Menu, Tables, Chairs)</a:t>
            </a:r>
          </a:p>
          <a:p>
            <a:pPr>
              <a:buFont typeface="Wingdings" pitchFamily="2" charset="2"/>
              <a:buNone/>
            </a:pPr>
            <a:r>
              <a:rPr lang="en-US" sz="1600" b="1" dirty="0">
                <a:solidFill>
                  <a:srgbClr val="000000"/>
                </a:solidFill>
                <a:latin typeface="Lucida Grande" charset="0"/>
              </a:rPr>
              <a:t>Roles</a:t>
            </a:r>
            <a:r>
              <a:rPr lang="en-US" sz="1600" dirty="0">
                <a:solidFill>
                  <a:srgbClr val="000000"/>
                </a:solidFill>
                <a:latin typeface="Lucida Grande" charset="0"/>
              </a:rPr>
              <a:t>:                            (Hungry-Persons, Wait-Persons, Chef-Persons)</a:t>
            </a:r>
          </a:p>
          <a:p>
            <a:pPr>
              <a:buFont typeface="Wingdings" pitchFamily="2" charset="2"/>
              <a:buNone/>
            </a:pPr>
            <a:r>
              <a:rPr lang="en-US" sz="1600" b="1" dirty="0">
                <a:solidFill>
                  <a:srgbClr val="000000"/>
                </a:solidFill>
                <a:latin typeface="Lucida Grande" charset="0"/>
              </a:rPr>
              <a:t>Point-of-View</a:t>
            </a:r>
            <a:r>
              <a:rPr lang="en-US" sz="1600" dirty="0">
                <a:solidFill>
                  <a:srgbClr val="000000"/>
                </a:solidFill>
                <a:latin typeface="Lucida Grande" charset="0"/>
              </a:rPr>
              <a:t>:             Hungry-Persons</a:t>
            </a:r>
          </a:p>
          <a:p>
            <a:pPr>
              <a:buFont typeface="Wingdings" pitchFamily="2" charset="2"/>
              <a:buNone/>
            </a:pPr>
            <a:r>
              <a:rPr lang="en-US" sz="1600" b="1" dirty="0">
                <a:solidFill>
                  <a:srgbClr val="000000"/>
                </a:solidFill>
                <a:latin typeface="Lucida Grande" charset="0"/>
              </a:rPr>
              <a:t>Time-of-Occurrence</a:t>
            </a:r>
            <a:r>
              <a:rPr lang="en-US" sz="1600" dirty="0">
                <a:solidFill>
                  <a:srgbClr val="000000"/>
                </a:solidFill>
                <a:latin typeface="Lucida Grande" charset="0"/>
              </a:rPr>
              <a:t>:   (Times-of-Operation of Restaurant)</a:t>
            </a:r>
          </a:p>
          <a:p>
            <a:pPr>
              <a:buFont typeface="Wingdings" pitchFamily="2" charset="2"/>
              <a:buNone/>
            </a:pPr>
            <a:r>
              <a:rPr lang="en-US" sz="1600" b="1" dirty="0">
                <a:solidFill>
                  <a:srgbClr val="000000"/>
                </a:solidFill>
                <a:latin typeface="Lucida Grande" charset="0"/>
              </a:rPr>
              <a:t>Place-of-Occurrence</a:t>
            </a:r>
            <a:r>
              <a:rPr lang="en-US" sz="1600" dirty="0">
                <a:solidFill>
                  <a:srgbClr val="000000"/>
                </a:solidFill>
                <a:latin typeface="Lucida Grande" charset="0"/>
              </a:rPr>
              <a:t>:   (Location of Restaurant)</a:t>
            </a:r>
          </a:p>
          <a:p>
            <a:pPr>
              <a:buFont typeface="Wingdings" pitchFamily="2" charset="2"/>
              <a:buNone/>
            </a:pPr>
            <a:r>
              <a:rPr lang="en-US" sz="1600" b="1" dirty="0">
                <a:solidFill>
                  <a:srgbClr val="000000"/>
                </a:solidFill>
                <a:latin typeface="Lucida Grande" charset="0"/>
              </a:rPr>
              <a:t>Event-Sequence</a:t>
            </a:r>
            <a:r>
              <a:rPr lang="en-US" sz="1600" dirty="0">
                <a:solidFill>
                  <a:srgbClr val="000000"/>
                </a:solidFill>
                <a:latin typeface="Lucida Grande" charset="0"/>
              </a:rPr>
              <a:t>:</a:t>
            </a:r>
          </a:p>
          <a:p>
            <a:pPr>
              <a:buFont typeface="Wingdings" pitchFamily="2" charset="2"/>
              <a:buNone/>
            </a:pPr>
            <a:r>
              <a:rPr lang="en-US" sz="1600" dirty="0">
                <a:solidFill>
                  <a:srgbClr val="000000"/>
                </a:solidFill>
                <a:latin typeface="Lucida Grande" charset="0"/>
              </a:rPr>
              <a:t>      </a:t>
            </a:r>
            <a:r>
              <a:rPr lang="en-US" sz="1600" b="1" dirty="0">
                <a:solidFill>
                  <a:srgbClr val="000000"/>
                </a:solidFill>
                <a:latin typeface="Lucida Grande" charset="0"/>
              </a:rPr>
              <a:t>first</a:t>
            </a:r>
            <a:r>
              <a:rPr lang="en-US" sz="1600" dirty="0">
                <a:solidFill>
                  <a:srgbClr val="000000"/>
                </a:solidFill>
                <a:latin typeface="Lucida Grande" charset="0"/>
              </a:rPr>
              <a:t>:         Enter-Restaurant Script</a:t>
            </a:r>
          </a:p>
          <a:p>
            <a:pPr>
              <a:buFont typeface="Wingdings" pitchFamily="2" charset="2"/>
              <a:buNone/>
            </a:pPr>
            <a:r>
              <a:rPr lang="en-US" sz="1600" dirty="0">
                <a:solidFill>
                  <a:srgbClr val="000000"/>
                </a:solidFill>
                <a:latin typeface="Lucida Grande" charset="0"/>
              </a:rPr>
              <a:t>      </a:t>
            </a:r>
            <a:r>
              <a:rPr lang="en-US" sz="1600" b="1" dirty="0">
                <a:solidFill>
                  <a:srgbClr val="000000"/>
                </a:solidFill>
                <a:latin typeface="Lucida Grande" charset="0"/>
              </a:rPr>
              <a:t>then</a:t>
            </a:r>
            <a:r>
              <a:rPr lang="en-US" sz="1600" dirty="0">
                <a:solidFill>
                  <a:srgbClr val="000000"/>
                </a:solidFill>
                <a:latin typeface="Lucida Grande" charset="0"/>
              </a:rPr>
              <a:t>:         if (Wait-To-Be-Seated-Sign or Reservations)</a:t>
            </a:r>
          </a:p>
          <a:p>
            <a:pPr>
              <a:buFont typeface="Wingdings" pitchFamily="2" charset="2"/>
              <a:buNone/>
            </a:pPr>
            <a:r>
              <a:rPr lang="en-US" sz="1600" dirty="0">
                <a:solidFill>
                  <a:srgbClr val="000000"/>
                </a:solidFill>
                <a:latin typeface="Lucida Grande" charset="0"/>
              </a:rPr>
              <a:t>                        then Get-Maitre-</a:t>
            </a:r>
            <a:r>
              <a:rPr lang="en-US" sz="1600" dirty="0" err="1">
                <a:solidFill>
                  <a:srgbClr val="000000"/>
                </a:solidFill>
                <a:latin typeface="Lucida Grande" charset="0"/>
              </a:rPr>
              <a:t>d's</a:t>
            </a:r>
            <a:r>
              <a:rPr lang="en-US" sz="1600" dirty="0">
                <a:solidFill>
                  <a:srgbClr val="000000"/>
                </a:solidFill>
                <a:latin typeface="Lucida Grande" charset="0"/>
              </a:rPr>
              <a:t>-Attention Script</a:t>
            </a:r>
          </a:p>
          <a:p>
            <a:pPr>
              <a:buFont typeface="Wingdings" pitchFamily="2" charset="2"/>
              <a:buNone/>
            </a:pPr>
            <a:r>
              <a:rPr lang="en-US" sz="1600" dirty="0">
                <a:solidFill>
                  <a:srgbClr val="000000"/>
                </a:solidFill>
                <a:latin typeface="Lucida Grande" charset="0"/>
              </a:rPr>
              <a:t>      </a:t>
            </a:r>
            <a:r>
              <a:rPr lang="en-US" sz="1600" b="1" dirty="0">
                <a:solidFill>
                  <a:srgbClr val="000000"/>
                </a:solidFill>
                <a:latin typeface="Lucida Grande" charset="0"/>
              </a:rPr>
              <a:t>then</a:t>
            </a:r>
            <a:r>
              <a:rPr lang="en-US" sz="1600" dirty="0">
                <a:solidFill>
                  <a:srgbClr val="000000"/>
                </a:solidFill>
                <a:latin typeface="Lucida Grande" charset="0"/>
              </a:rPr>
              <a:t>:         Please-Be-Seated Script</a:t>
            </a:r>
          </a:p>
          <a:p>
            <a:pPr>
              <a:buFont typeface="Wingdings" pitchFamily="2" charset="2"/>
              <a:buNone/>
            </a:pPr>
            <a:r>
              <a:rPr lang="en-US" sz="1600" dirty="0">
                <a:solidFill>
                  <a:srgbClr val="000000"/>
                </a:solidFill>
                <a:latin typeface="Lucida Grande" charset="0"/>
              </a:rPr>
              <a:t>      </a:t>
            </a:r>
            <a:r>
              <a:rPr lang="en-US" sz="1600" b="1" dirty="0">
                <a:solidFill>
                  <a:srgbClr val="000000"/>
                </a:solidFill>
                <a:latin typeface="Lucida Grande" charset="0"/>
              </a:rPr>
              <a:t>then</a:t>
            </a:r>
            <a:r>
              <a:rPr lang="en-US" sz="1600" dirty="0">
                <a:solidFill>
                  <a:srgbClr val="000000"/>
                </a:solidFill>
                <a:latin typeface="Lucida Grande" charset="0"/>
              </a:rPr>
              <a:t>:         Order-Food-Script</a:t>
            </a:r>
          </a:p>
          <a:p>
            <a:pPr>
              <a:buFont typeface="Wingdings" pitchFamily="2" charset="2"/>
              <a:buNone/>
            </a:pPr>
            <a:r>
              <a:rPr lang="en-US" sz="1600" dirty="0">
                <a:solidFill>
                  <a:srgbClr val="000000"/>
                </a:solidFill>
                <a:latin typeface="Lucida Grande" charset="0"/>
              </a:rPr>
              <a:t>      </a:t>
            </a:r>
            <a:r>
              <a:rPr lang="en-US" sz="1600" b="1" dirty="0">
                <a:solidFill>
                  <a:srgbClr val="000000"/>
                </a:solidFill>
                <a:latin typeface="Lucida Grande" charset="0"/>
              </a:rPr>
              <a:t>then</a:t>
            </a:r>
            <a:r>
              <a:rPr lang="en-US" sz="1600" dirty="0">
                <a:solidFill>
                  <a:srgbClr val="000000"/>
                </a:solidFill>
                <a:latin typeface="Lucida Grande" charset="0"/>
              </a:rPr>
              <a:t>:         Eat-Food-Script unless (Long-Wait) when Exit-Restaurant-Angry Script</a:t>
            </a:r>
          </a:p>
          <a:p>
            <a:pPr>
              <a:buFont typeface="Wingdings" pitchFamily="2" charset="2"/>
              <a:buNone/>
            </a:pPr>
            <a:r>
              <a:rPr lang="en-US" sz="1600" dirty="0">
                <a:solidFill>
                  <a:srgbClr val="000000"/>
                </a:solidFill>
                <a:latin typeface="Lucida Grande" charset="0"/>
              </a:rPr>
              <a:t>      </a:t>
            </a:r>
            <a:r>
              <a:rPr lang="en-US" sz="1600" b="1" dirty="0">
                <a:solidFill>
                  <a:srgbClr val="000000"/>
                </a:solidFill>
                <a:latin typeface="Lucida Grande" charset="0"/>
              </a:rPr>
              <a:t>then</a:t>
            </a:r>
            <a:r>
              <a:rPr lang="en-US" sz="1600" dirty="0">
                <a:solidFill>
                  <a:srgbClr val="000000"/>
                </a:solidFill>
                <a:latin typeface="Lucida Grande" charset="0"/>
              </a:rPr>
              <a:t>:         if (Food-Quality was better than Palatable)</a:t>
            </a:r>
          </a:p>
          <a:p>
            <a:pPr>
              <a:buFont typeface="Wingdings" pitchFamily="2" charset="2"/>
              <a:buNone/>
            </a:pPr>
            <a:r>
              <a:rPr lang="en-US" sz="1600" dirty="0">
                <a:solidFill>
                  <a:srgbClr val="000000"/>
                </a:solidFill>
                <a:latin typeface="Lucida Grande" charset="0"/>
              </a:rPr>
              <a:t>                        then Compliments-To-The-Chef Script</a:t>
            </a:r>
          </a:p>
          <a:p>
            <a:pPr>
              <a:buFont typeface="Wingdings" pitchFamily="2" charset="2"/>
              <a:buNone/>
            </a:pPr>
            <a:r>
              <a:rPr lang="en-US" sz="1600" dirty="0">
                <a:solidFill>
                  <a:srgbClr val="000000"/>
                </a:solidFill>
                <a:latin typeface="Lucida Grande" charset="0"/>
              </a:rPr>
              <a:t>      </a:t>
            </a:r>
            <a:r>
              <a:rPr lang="en-US" sz="1600" b="1" dirty="0">
                <a:solidFill>
                  <a:srgbClr val="000000"/>
                </a:solidFill>
                <a:latin typeface="Lucida Grande" charset="0"/>
              </a:rPr>
              <a:t>then</a:t>
            </a:r>
            <a:r>
              <a:rPr lang="en-US" sz="1600" dirty="0">
                <a:solidFill>
                  <a:srgbClr val="000000"/>
                </a:solidFill>
                <a:latin typeface="Lucida Grande" charset="0"/>
              </a:rPr>
              <a:t>:         Pay-For-It-Script</a:t>
            </a:r>
          </a:p>
          <a:p>
            <a:pPr>
              <a:buFont typeface="Wingdings" pitchFamily="2" charset="2"/>
              <a:buNone/>
            </a:pPr>
            <a:r>
              <a:rPr lang="en-US" sz="1600" dirty="0">
                <a:solidFill>
                  <a:srgbClr val="000000"/>
                </a:solidFill>
                <a:latin typeface="Lucida Grande" charset="0"/>
              </a:rPr>
              <a:t>      </a:t>
            </a:r>
            <a:r>
              <a:rPr lang="en-US" sz="1600" b="1" dirty="0">
                <a:solidFill>
                  <a:srgbClr val="000000"/>
                </a:solidFill>
                <a:latin typeface="Lucida Grande" charset="0"/>
              </a:rPr>
              <a:t>finally</a:t>
            </a:r>
            <a:r>
              <a:rPr lang="en-US" sz="1600" dirty="0">
                <a:solidFill>
                  <a:srgbClr val="000000"/>
                </a:solidFill>
                <a:latin typeface="Lucida Grande" charset="0"/>
              </a:rPr>
              <a:t>:      Leave-Restaurant Script</a:t>
            </a:r>
            <a:endParaRPr lang="en-US" sz="1600" dirty="0"/>
          </a:p>
        </p:txBody>
      </p:sp>
      <p:sp>
        <p:nvSpPr>
          <p:cNvPr id="153604" name="Rectangle 4"/>
          <p:cNvSpPr>
            <a:spLocks noChangeArrowheads="1"/>
          </p:cNvSpPr>
          <p:nvPr/>
        </p:nvSpPr>
        <p:spPr bwMode="auto">
          <a:xfrm>
            <a:off x="3179763" y="6553200"/>
            <a:ext cx="13017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latin typeface="Helvetica" charset="0"/>
                <a:hlinkClick r:id="rId2" action="ppaction://hlinksldjump"/>
              </a:rPr>
              <a:t>[Rogers 1999]</a:t>
            </a:r>
            <a:endParaRPr lang="en-US" sz="280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799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Frame Advantages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fairly intuitive for many applications</a:t>
            </a:r>
          </a:p>
          <a:p>
            <a:pPr lvl="1"/>
            <a:r>
              <a:rPr lang="en-US" dirty="0"/>
              <a:t>similar to human knowledge organization</a:t>
            </a:r>
          </a:p>
          <a:p>
            <a:pPr lvl="1"/>
            <a:r>
              <a:rPr lang="en-US" dirty="0"/>
              <a:t>suitable for causal knowledge</a:t>
            </a:r>
          </a:p>
          <a:p>
            <a:pPr lvl="1"/>
            <a:r>
              <a:rPr lang="en-US" dirty="0"/>
              <a:t>easier to understand than logic or rules</a:t>
            </a:r>
          </a:p>
          <a:p>
            <a:r>
              <a:rPr lang="en-US" dirty="0"/>
              <a:t>very flexible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0" y="6525344"/>
            <a:ext cx="9142412" cy="332656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1251172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Frame Problems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it is tempting to use frames as </a:t>
            </a:r>
            <a:r>
              <a:rPr lang="en-US" i="1"/>
              <a:t>definitions</a:t>
            </a:r>
            <a:r>
              <a:rPr lang="en-US"/>
              <a:t> of concepts</a:t>
            </a:r>
          </a:p>
          <a:p>
            <a:pPr lvl="1"/>
            <a:r>
              <a:rPr lang="en-US"/>
              <a:t>not appropriate because there may be valid instances of a concept that do not fit the stereotype</a:t>
            </a:r>
          </a:p>
          <a:p>
            <a:pPr lvl="1"/>
            <a:r>
              <a:rPr lang="en-US" i="1"/>
              <a:t>exceptions</a:t>
            </a:r>
            <a:r>
              <a:rPr lang="en-US"/>
              <a:t> can be used to overcome this</a:t>
            </a:r>
          </a:p>
          <a:p>
            <a:pPr lvl="2"/>
            <a:r>
              <a:rPr lang="en-US"/>
              <a:t>can get very messy</a:t>
            </a:r>
          </a:p>
          <a:p>
            <a:r>
              <a:rPr lang="en-US"/>
              <a:t>inheritance</a:t>
            </a:r>
          </a:p>
          <a:p>
            <a:pPr lvl="1"/>
            <a:r>
              <a:rPr lang="en-US"/>
              <a:t>not all properties of a class stereotype should be propagated to subclasses</a:t>
            </a:r>
          </a:p>
          <a:p>
            <a:pPr lvl="1"/>
            <a:r>
              <a:rPr lang="en-US"/>
              <a:t>alteration of slots can have unintended consequences in subclasses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0" y="6525344"/>
            <a:ext cx="9142412" cy="332656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3195151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itle - Center">
  <a:themeElements>
    <a:clrScheme name="">
      <a:dk1>
        <a:srgbClr val="808080"/>
      </a:dk1>
      <a:lt1>
        <a:srgbClr val="FFFFFF"/>
      </a:lt1>
      <a:dk2>
        <a:srgbClr val="021360"/>
      </a:dk2>
      <a:lt2>
        <a:srgbClr val="000000"/>
      </a:lt2>
      <a:accent1>
        <a:srgbClr val="CC9900"/>
      </a:accent1>
      <a:accent2>
        <a:srgbClr val="333399"/>
      </a:accent2>
      <a:accent3>
        <a:srgbClr val="AAAAB6"/>
      </a:accent3>
      <a:accent4>
        <a:srgbClr val="DADADA"/>
      </a:accent4>
      <a:accent5>
        <a:srgbClr val="E2C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- Center">
      <a:majorFont>
        <a:latin typeface="Arial"/>
        <a:ea typeface="ヒラギノ角ゴ ProN W3"/>
        <a:cs typeface="ヒラギノ角ゴ ProN W3"/>
      </a:majorFont>
      <a:minorFont>
        <a:latin typeface="Arial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C9900"/>
        </a:solidFill>
        <a:ln w="9525" cap="flat" cmpd="sng" algn="ctr">
          <a:solidFill>
            <a:srgbClr val="FFFFFF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Arial" pitchFamily="34" charset="0"/>
            <a:ea typeface="ヒラギノ角ゴ ProN W3" charset="0"/>
            <a:cs typeface="ヒラギノ角ゴ ProN W3" charset="0"/>
            <a:sym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C9900"/>
        </a:solidFill>
        <a:ln w="9525" cap="flat" cmpd="sng" algn="ctr">
          <a:solidFill>
            <a:srgbClr val="FFFFFF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Arial" pitchFamily="34" charset="0"/>
            <a:ea typeface="ヒラギノ角ゴ ProN W3" charset="0"/>
            <a:cs typeface="ヒラギノ角ゴ ProN W3" charset="0"/>
            <a:sym typeface="Arial" pitchFamily="34" charset="0"/>
          </a:defRPr>
        </a:defPPr>
      </a:lstStyle>
    </a:lnDef>
  </a:objectDefaults>
  <a:extraClrSchemeLst>
    <a:extraClrScheme>
      <a:clrScheme name="Title - Cente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ascade">
  <a:themeElements>
    <a:clrScheme name="">
      <a:dk1>
        <a:srgbClr val="808080"/>
      </a:dk1>
      <a:lt1>
        <a:srgbClr val="FFFFFF"/>
      </a:lt1>
      <a:dk2>
        <a:srgbClr val="0B0460"/>
      </a:dk2>
      <a:lt2>
        <a:srgbClr val="000000"/>
      </a:lt2>
      <a:accent1>
        <a:srgbClr val="CC9900"/>
      </a:accent1>
      <a:accent2>
        <a:srgbClr val="333399"/>
      </a:accent2>
      <a:accent3>
        <a:srgbClr val="AAAAB6"/>
      </a:accent3>
      <a:accent4>
        <a:srgbClr val="DADADA"/>
      </a:accent4>
      <a:accent5>
        <a:srgbClr val="E2C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Cascade">
      <a:majorFont>
        <a:latin typeface="Arial"/>
        <a:ea typeface="ヒラギノ角ゴ ProN W3"/>
        <a:cs typeface="ヒラギノ角ゴ ProN W3"/>
      </a:majorFont>
      <a:minorFont>
        <a:latin typeface="Arial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C9900"/>
        </a:solidFill>
        <a:ln w="9525" cap="flat" cmpd="sng" algn="ctr">
          <a:solidFill>
            <a:srgbClr val="FFFFFF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Arial" pitchFamily="34" charset="0"/>
            <a:ea typeface="ヒラギノ角ゴ ProN W3" charset="0"/>
            <a:cs typeface="ヒラギノ角ゴ ProN W3" charset="0"/>
            <a:sym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C9900"/>
        </a:solidFill>
        <a:ln w="9525" cap="flat" cmpd="sng" algn="ctr">
          <a:solidFill>
            <a:srgbClr val="FFFFFF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Arial" pitchFamily="34" charset="0"/>
            <a:ea typeface="ヒラギノ角ゴ ProN W3" charset="0"/>
            <a:cs typeface="ヒラギノ角ゴ ProN W3" charset="0"/>
            <a:sym typeface="Arial" pitchFamily="34" charset="0"/>
          </a:defRPr>
        </a:defPPr>
      </a:lstStyle>
    </a:lnDef>
  </a:objectDefaults>
  <a:extraClrSchemeLst>
    <a:extraClrScheme>
      <a:clrScheme name="Casca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1074</TotalTime>
  <Pages>0</Pages>
  <Words>1262</Words>
  <Characters>0</Characters>
  <Application>Microsoft Office PowerPoint</Application>
  <PresentationFormat>On-screen Show (4:3)</PresentationFormat>
  <Lines>0</Lines>
  <Paragraphs>205</Paragraphs>
  <Slides>26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41" baseType="lpstr">
      <vt:lpstr>Arial</vt:lpstr>
      <vt:lpstr>Arial Bold</vt:lpstr>
      <vt:lpstr>Calibri</vt:lpstr>
      <vt:lpstr>Courier New</vt:lpstr>
      <vt:lpstr>Helvetica</vt:lpstr>
      <vt:lpstr>hurme_no2-webfont</vt:lpstr>
      <vt:lpstr>Lucida Grande</vt:lpstr>
      <vt:lpstr>Monotype Sorts</vt:lpstr>
      <vt:lpstr>Times</vt:lpstr>
      <vt:lpstr>Times New Roman</vt:lpstr>
      <vt:lpstr>Wingdings</vt:lpstr>
      <vt:lpstr>ヒラギノ角ゴ ProN W3</vt:lpstr>
      <vt:lpstr>ヒラギノ角ゴ ProN W6</vt:lpstr>
      <vt:lpstr>Title - Center</vt:lpstr>
      <vt:lpstr>Cascade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Retracting Facts</vt:lpstr>
      <vt:lpstr>Rules</vt:lpstr>
      <vt:lpstr>PowerPoint Presentation</vt:lpstr>
      <vt:lpstr>PowerPoint Presentation</vt:lpstr>
      <vt:lpstr>PowerPoint Presentation</vt:lpstr>
      <vt:lpstr>Frame</vt:lpstr>
      <vt:lpstr>A Car Frame</vt:lpstr>
      <vt:lpstr>Overview of Frame Structure</vt:lpstr>
      <vt:lpstr>Slots</vt:lpstr>
      <vt:lpstr>Object-Attribute-Value Triple</vt:lpstr>
      <vt:lpstr>PowerPoint Presentation</vt:lpstr>
      <vt:lpstr>Usage of Frames</vt:lpstr>
      <vt:lpstr>Schema</vt:lpstr>
      <vt:lpstr>Schema</vt:lpstr>
      <vt:lpstr>Concept Schema</vt:lpstr>
      <vt:lpstr>Schema Examples</vt:lpstr>
      <vt:lpstr>Restaurant Frame Example</vt:lpstr>
      <vt:lpstr>Generic Restaurant Frame</vt:lpstr>
      <vt:lpstr>Restaurant Script</vt:lpstr>
      <vt:lpstr>Frame Advantages</vt:lpstr>
      <vt:lpstr>Frame Problems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Expert Systems</dc:title>
  <dc:creator>Khaled elmenshawy</dc:creator>
  <cp:lastModifiedBy>aly khaled</cp:lastModifiedBy>
  <cp:revision>152</cp:revision>
  <dcterms:modified xsi:type="dcterms:W3CDTF">2020-04-08T12:29:54Z</dcterms:modified>
</cp:coreProperties>
</file>